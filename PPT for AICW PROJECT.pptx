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51435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12">
          <p15:clr>
            <a:srgbClr val="A4A3A4"/>
          </p15:clr>
        </p15:guide>
        <p15:guide id="2" orient="horz" pos="852">
          <p15:clr>
            <a:srgbClr val="A4A3A4"/>
          </p15:clr>
        </p15:guide>
        <p15:guide id="3" pos="144">
          <p15:clr>
            <a:srgbClr val="A4A3A4"/>
          </p15:clr>
        </p15:guide>
      </p15:sldGuideLst>
    </p:ext>
    <p:ext uri="GoogleSlidesCustomDataVersion2">
      <go:slidesCustomData xmlns:go="http://customooxmlschemas.google.com/" r:id="rId22" roundtripDataSignature="AMtx7mj8wrZcM7+OE0eHKicQly1NkaGx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606B37-A2F0-4C30-953B-2D1343C29F04}">
  <a:tblStyle styleId="{90606B37-A2F0-4C30-953B-2D1343C29F0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12" orient="horz"/>
        <p:guide pos="852" orient="horz"/>
        <p:guide pos="1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ato-bold.fntdata"/><Relationship Id="rId6" Type="http://schemas.openxmlformats.org/officeDocument/2006/relationships/notesMaster" Target="notesMasters/notesMaster1.xml"/><Relationship Id="rId18"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4" name="Google Shape;7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2" name="Google Shape;8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0" name="Google Shape;9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8" name="Google Shape;9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7" name="Google Shape;10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9" name="Google Shape;12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9" name="Google Shape;14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5" name="Google Shape;16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4" name="Google Shape;18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2"/>
          <p:cNvGrpSpPr/>
          <p:nvPr/>
        </p:nvGrpSpPr>
        <p:grpSpPr>
          <a:xfrm flipH="1">
            <a:off x="0" y="4974576"/>
            <a:ext cx="9144000" cy="168924"/>
            <a:chOff x="0" y="-38100"/>
            <a:chExt cx="4402382" cy="104564"/>
          </a:xfrm>
        </p:grpSpPr>
        <p:sp>
          <p:nvSpPr>
            <p:cNvPr id="7" name="Google Shape;7;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 name="Google Shape;9;p12"/>
          <p:cNvGrpSpPr/>
          <p:nvPr/>
        </p:nvGrpSpPr>
        <p:grpSpPr>
          <a:xfrm>
            <a:off x="0" y="-243173"/>
            <a:ext cx="9144000" cy="667379"/>
            <a:chOff x="0" y="-38100"/>
            <a:chExt cx="4402382" cy="104564"/>
          </a:xfrm>
        </p:grpSpPr>
        <p:sp>
          <p:nvSpPr>
            <p:cNvPr id="10" name="Google Shape;10;p12"/>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12"/>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A black and white logo&#10;&#10;AI-generated content may be incorrect." id="12" name="Google Shape;12;p12"/>
          <p:cNvPicPr preferRelativeResize="0"/>
          <p:nvPr/>
        </p:nvPicPr>
        <p:blipFill rotWithShape="1">
          <a:blip r:embed="rId1">
            <a:alphaModFix/>
          </a:blip>
          <a:srcRect b="0" l="0" r="0" t="0"/>
          <a:stretch/>
        </p:blipFill>
        <p:spPr>
          <a:xfrm>
            <a:off x="7820696" y="55166"/>
            <a:ext cx="965086" cy="3138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1"/>
          <p:cNvSpPr/>
          <p:nvPr/>
        </p:nvSpPr>
        <p:spPr>
          <a:xfrm>
            <a:off x="364882" y="652908"/>
            <a:ext cx="3603333" cy="485021"/>
          </a:xfrm>
          <a:prstGeom prst="roundRect">
            <a:avLst>
              <a:gd fmla="val 16667" name="adj"/>
            </a:avLst>
          </a:prstGeom>
          <a:solidFill>
            <a:schemeClr val="lt1"/>
          </a:solidFill>
          <a:ln cap="flat" cmpd="sng" w="12700">
            <a:solidFill>
              <a:srgbClr val="1D63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 name="Google Shape;20;p1"/>
          <p:cNvGrpSpPr/>
          <p:nvPr/>
        </p:nvGrpSpPr>
        <p:grpSpPr>
          <a:xfrm>
            <a:off x="0" y="-72331"/>
            <a:ext cx="4153368" cy="198509"/>
            <a:chOff x="0" y="-38100"/>
            <a:chExt cx="2187782" cy="104564"/>
          </a:xfrm>
        </p:grpSpPr>
        <p:sp>
          <p:nvSpPr>
            <p:cNvPr id="21" name="Google Shape;21;p1"/>
            <p:cNvSpPr/>
            <p:nvPr/>
          </p:nvSpPr>
          <p:spPr>
            <a:xfrm>
              <a:off x="0" y="0"/>
              <a:ext cx="2187782" cy="66464"/>
            </a:xfrm>
            <a:custGeom>
              <a:rect b="b" l="l" r="r" t="t"/>
              <a:pathLst>
                <a:path extrusionOk="0" h="66464" w="2187782">
                  <a:moveTo>
                    <a:pt x="0" y="0"/>
                  </a:moveTo>
                  <a:lnTo>
                    <a:pt x="2187782" y="0"/>
                  </a:lnTo>
                  <a:lnTo>
                    <a:pt x="21877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2" name="Google Shape;22;p1"/>
            <p:cNvSpPr txBox="1"/>
            <p:nvPr/>
          </p:nvSpPr>
          <p:spPr>
            <a:xfrm>
              <a:off x="0" y="-38100"/>
              <a:ext cx="2187782"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3" name="Google Shape;23;p1"/>
          <p:cNvGrpSpPr/>
          <p:nvPr/>
        </p:nvGrpSpPr>
        <p:grpSpPr>
          <a:xfrm>
            <a:off x="0" y="4944991"/>
            <a:ext cx="7571294" cy="198509"/>
            <a:chOff x="0" y="-38100"/>
            <a:chExt cx="3988171" cy="104564"/>
          </a:xfrm>
        </p:grpSpPr>
        <p:sp>
          <p:nvSpPr>
            <p:cNvPr id="24" name="Google Shape;24;p1"/>
            <p:cNvSpPr/>
            <p:nvPr/>
          </p:nvSpPr>
          <p:spPr>
            <a:xfrm>
              <a:off x="0" y="0"/>
              <a:ext cx="3988171" cy="66464"/>
            </a:xfrm>
            <a:custGeom>
              <a:rect b="b" l="l" r="r" t="t"/>
              <a:pathLst>
                <a:path extrusionOk="0" h="66464" w="3988171">
                  <a:moveTo>
                    <a:pt x="0" y="0"/>
                  </a:moveTo>
                  <a:lnTo>
                    <a:pt x="3988171" y="0"/>
                  </a:lnTo>
                  <a:lnTo>
                    <a:pt x="3988171"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5" name="Google Shape;25;p1"/>
            <p:cNvSpPr txBox="1"/>
            <p:nvPr/>
          </p:nvSpPr>
          <p:spPr>
            <a:xfrm>
              <a:off x="0" y="-38100"/>
              <a:ext cx="3988171"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6" name="Google Shape;26;p1"/>
          <p:cNvGrpSpPr/>
          <p:nvPr/>
        </p:nvGrpSpPr>
        <p:grpSpPr>
          <a:xfrm rot="2700000">
            <a:off x="3687342" y="-590735"/>
            <a:ext cx="4602320" cy="2195587"/>
            <a:chOff x="0" y="-38100"/>
            <a:chExt cx="2424267" cy="1156523"/>
          </a:xfrm>
        </p:grpSpPr>
        <p:sp>
          <p:nvSpPr>
            <p:cNvPr id="27" name="Google Shape;27;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28" name="Google Shape;28;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29" name="Google Shape;29;p1"/>
          <p:cNvGrpSpPr/>
          <p:nvPr/>
        </p:nvGrpSpPr>
        <p:grpSpPr>
          <a:xfrm rot="2700000">
            <a:off x="5657931" y="242183"/>
            <a:ext cx="3724082" cy="1136725"/>
            <a:chOff x="0" y="-38100"/>
            <a:chExt cx="1961656" cy="598768"/>
          </a:xfrm>
        </p:grpSpPr>
        <p:sp>
          <p:nvSpPr>
            <p:cNvPr id="30" name="Google Shape;30;p1"/>
            <p:cNvSpPr/>
            <p:nvPr/>
          </p:nvSpPr>
          <p:spPr>
            <a:xfrm>
              <a:off x="0" y="0"/>
              <a:ext cx="1961656" cy="560668"/>
            </a:xfrm>
            <a:custGeom>
              <a:rect b="b" l="l" r="r" t="t"/>
              <a:pathLst>
                <a:path extrusionOk="0" h="560668" w="1961656">
                  <a:moveTo>
                    <a:pt x="0" y="0"/>
                  </a:moveTo>
                  <a:lnTo>
                    <a:pt x="1961656" y="0"/>
                  </a:lnTo>
                  <a:lnTo>
                    <a:pt x="1961656" y="560668"/>
                  </a:lnTo>
                  <a:lnTo>
                    <a:pt x="0" y="560668"/>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1" name="Google Shape;31;p1"/>
            <p:cNvSpPr txBox="1"/>
            <p:nvPr/>
          </p:nvSpPr>
          <p:spPr>
            <a:xfrm>
              <a:off x="0" y="-38100"/>
              <a:ext cx="1961656" cy="598768"/>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2" name="Google Shape;32;p1"/>
          <p:cNvGrpSpPr/>
          <p:nvPr/>
        </p:nvGrpSpPr>
        <p:grpSpPr>
          <a:xfrm rot="2700000">
            <a:off x="7553790" y="-954554"/>
            <a:ext cx="2873959" cy="2039351"/>
            <a:chOff x="0" y="-38100"/>
            <a:chExt cx="1513855" cy="1074226"/>
          </a:xfrm>
        </p:grpSpPr>
        <p:sp>
          <p:nvSpPr>
            <p:cNvPr id="33" name="Google Shape;33;p1"/>
            <p:cNvSpPr/>
            <p:nvPr/>
          </p:nvSpPr>
          <p:spPr>
            <a:xfrm>
              <a:off x="0" y="0"/>
              <a:ext cx="1513855" cy="1036126"/>
            </a:xfrm>
            <a:custGeom>
              <a:rect b="b" l="l" r="r" t="t"/>
              <a:pathLst>
                <a:path extrusionOk="0" h="1036126" w="1513855">
                  <a:moveTo>
                    <a:pt x="0" y="0"/>
                  </a:moveTo>
                  <a:lnTo>
                    <a:pt x="1513855" y="0"/>
                  </a:lnTo>
                  <a:lnTo>
                    <a:pt x="1513855" y="1036126"/>
                  </a:lnTo>
                  <a:lnTo>
                    <a:pt x="0" y="1036126"/>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4" name="Google Shape;34;p1"/>
            <p:cNvSpPr txBox="1"/>
            <p:nvPr/>
          </p:nvSpPr>
          <p:spPr>
            <a:xfrm>
              <a:off x="0" y="-38100"/>
              <a:ext cx="1513855" cy="1074226"/>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5" name="Google Shape;35;p1"/>
          <p:cNvGrpSpPr/>
          <p:nvPr/>
        </p:nvGrpSpPr>
        <p:grpSpPr>
          <a:xfrm rot="2700000">
            <a:off x="6782413" y="3941960"/>
            <a:ext cx="4602320" cy="2195587"/>
            <a:chOff x="0" y="-38100"/>
            <a:chExt cx="2424267" cy="1156523"/>
          </a:xfrm>
        </p:grpSpPr>
        <p:sp>
          <p:nvSpPr>
            <p:cNvPr id="36" name="Google Shape;36;p1"/>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37" name="Google Shape;37;p1"/>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38" name="Google Shape;38;p1"/>
          <p:cNvGrpSpPr/>
          <p:nvPr/>
        </p:nvGrpSpPr>
        <p:grpSpPr>
          <a:xfrm rot="2700000">
            <a:off x="7867768" y="3610781"/>
            <a:ext cx="2166949" cy="1198519"/>
            <a:chOff x="0" y="-38100"/>
            <a:chExt cx="1141438" cy="631319"/>
          </a:xfrm>
        </p:grpSpPr>
        <p:sp>
          <p:nvSpPr>
            <p:cNvPr id="39" name="Google Shape;39;p1"/>
            <p:cNvSpPr/>
            <p:nvPr/>
          </p:nvSpPr>
          <p:spPr>
            <a:xfrm>
              <a:off x="0" y="0"/>
              <a:ext cx="1141438" cy="593219"/>
            </a:xfrm>
            <a:custGeom>
              <a:rect b="b" l="l" r="r" t="t"/>
              <a:pathLst>
                <a:path extrusionOk="0" h="593219" w="1141438">
                  <a:moveTo>
                    <a:pt x="0" y="0"/>
                  </a:moveTo>
                  <a:lnTo>
                    <a:pt x="1141438" y="0"/>
                  </a:lnTo>
                  <a:lnTo>
                    <a:pt x="1141438" y="593219"/>
                  </a:lnTo>
                  <a:lnTo>
                    <a:pt x="0" y="593219"/>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0" name="Google Shape;40;p1"/>
            <p:cNvSpPr txBox="1"/>
            <p:nvPr/>
          </p:nvSpPr>
          <p:spPr>
            <a:xfrm>
              <a:off x="0" y="-38100"/>
              <a:ext cx="1141438" cy="631319"/>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grpSp>
        <p:nvGrpSpPr>
          <p:cNvPr id="41" name="Google Shape;41;p1"/>
          <p:cNvGrpSpPr/>
          <p:nvPr/>
        </p:nvGrpSpPr>
        <p:grpSpPr>
          <a:xfrm>
            <a:off x="5720497" y="768985"/>
            <a:ext cx="3475712" cy="3475712"/>
            <a:chOff x="0" y="0"/>
            <a:chExt cx="812800" cy="812800"/>
          </a:xfrm>
        </p:grpSpPr>
        <p:sp>
          <p:nvSpPr>
            <p:cNvPr id="42" name="Google Shape;42;p1"/>
            <p:cNvSpPr/>
            <p:nvPr/>
          </p:nvSpPr>
          <p:spPr>
            <a:xfrm>
              <a:off x="0" y="0"/>
              <a:ext cx="812800" cy="81280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3" name="Google Shape;43;p1"/>
            <p:cNvSpPr txBox="1"/>
            <p:nvPr/>
          </p:nvSpPr>
          <p:spPr>
            <a:xfrm>
              <a:off x="63500" y="25400"/>
              <a:ext cx="685800" cy="723900"/>
            </a:xfrm>
            <a:prstGeom prst="rect">
              <a:avLst/>
            </a:prstGeom>
            <a:noFill/>
            <a:ln>
              <a:noFill/>
            </a:ln>
          </p:spPr>
          <p:txBody>
            <a:bodyPr anchorCtr="0" anchor="ctr" bIns="29425" lIns="29425" spcFirstLastPara="1" rIns="29425" wrap="square" tIns="29425">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44" name="Google Shape;44;p1"/>
          <p:cNvSpPr/>
          <p:nvPr/>
        </p:nvSpPr>
        <p:spPr>
          <a:xfrm>
            <a:off x="4814816" y="492813"/>
            <a:ext cx="857064" cy="159628"/>
          </a:xfrm>
          <a:custGeom>
            <a:rect b="b" l="l" r="r" t="t"/>
            <a:pathLst>
              <a:path extrusionOk="0" h="319256" w="1714127">
                <a:moveTo>
                  <a:pt x="0" y="0"/>
                </a:moveTo>
                <a:lnTo>
                  <a:pt x="1714127" y="0"/>
                </a:lnTo>
                <a:lnTo>
                  <a:pt x="1714127" y="319257"/>
                </a:lnTo>
                <a:lnTo>
                  <a:pt x="0" y="31925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5" name="Google Shape;45;p1"/>
          <p:cNvSpPr/>
          <p:nvPr/>
        </p:nvSpPr>
        <p:spPr>
          <a:xfrm>
            <a:off x="8435937" y="4382878"/>
            <a:ext cx="857064" cy="159628"/>
          </a:xfrm>
          <a:custGeom>
            <a:rect b="b" l="l" r="r" t="t"/>
            <a:pathLst>
              <a:path extrusionOk="0" h="319256" w="1714127">
                <a:moveTo>
                  <a:pt x="0" y="0"/>
                </a:moveTo>
                <a:lnTo>
                  <a:pt x="1714127" y="0"/>
                </a:lnTo>
                <a:lnTo>
                  <a:pt x="1714127"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46" name="Google Shape;46;p1"/>
          <p:cNvSpPr/>
          <p:nvPr/>
        </p:nvSpPr>
        <p:spPr>
          <a:xfrm>
            <a:off x="8726258" y="4572000"/>
            <a:ext cx="857064" cy="159628"/>
          </a:xfrm>
          <a:custGeom>
            <a:rect b="b" l="l" r="r" t="t"/>
            <a:pathLst>
              <a:path extrusionOk="0" h="319256" w="1714127">
                <a:moveTo>
                  <a:pt x="0" y="0"/>
                </a:moveTo>
                <a:lnTo>
                  <a:pt x="1714128" y="0"/>
                </a:lnTo>
                <a:lnTo>
                  <a:pt x="1714128" y="319256"/>
                </a:lnTo>
                <a:lnTo>
                  <a:pt x="0" y="31925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grpSp>
        <p:nvGrpSpPr>
          <p:cNvPr id="47" name="Google Shape;47;p1"/>
          <p:cNvGrpSpPr/>
          <p:nvPr/>
        </p:nvGrpSpPr>
        <p:grpSpPr>
          <a:xfrm>
            <a:off x="-19007" y="2928677"/>
            <a:ext cx="4276134" cy="431080"/>
            <a:chOff x="0" y="2985846"/>
            <a:chExt cx="4276134" cy="431080"/>
          </a:xfrm>
        </p:grpSpPr>
        <p:grpSp>
          <p:nvGrpSpPr>
            <p:cNvPr id="48" name="Google Shape;48;p1"/>
            <p:cNvGrpSpPr/>
            <p:nvPr/>
          </p:nvGrpSpPr>
          <p:grpSpPr>
            <a:xfrm>
              <a:off x="0" y="2985846"/>
              <a:ext cx="4224335" cy="431080"/>
              <a:chOff x="0" y="-38100"/>
              <a:chExt cx="4355842" cy="444500"/>
            </a:xfrm>
          </p:grpSpPr>
          <p:sp>
            <p:nvSpPr>
              <p:cNvPr id="49" name="Google Shape;49;p1"/>
              <p:cNvSpPr/>
              <p:nvPr/>
            </p:nvSpPr>
            <p:spPr>
              <a:xfrm>
                <a:off x="0" y="0"/>
                <a:ext cx="4355842" cy="406400"/>
              </a:xfrm>
              <a:custGeom>
                <a:rect b="b" l="l" r="r" t="t"/>
                <a:pathLst>
                  <a:path extrusionOk="0" h="406400" w="4355842">
                    <a:moveTo>
                      <a:pt x="4152642" y="0"/>
                    </a:moveTo>
                    <a:lnTo>
                      <a:pt x="0" y="0"/>
                    </a:lnTo>
                    <a:lnTo>
                      <a:pt x="0" y="406400"/>
                    </a:lnTo>
                    <a:lnTo>
                      <a:pt x="4152642" y="406400"/>
                    </a:lnTo>
                    <a:lnTo>
                      <a:pt x="4355842" y="203200"/>
                    </a:lnTo>
                    <a:lnTo>
                      <a:pt x="4152642"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700">
                  <a:solidFill>
                    <a:schemeClr val="dk1"/>
                  </a:solidFill>
                  <a:latin typeface="Calibri"/>
                  <a:ea typeface="Calibri"/>
                  <a:cs typeface="Calibri"/>
                  <a:sym typeface="Calibri"/>
                </a:endParaRPr>
              </a:p>
            </p:txBody>
          </p:sp>
          <p:sp>
            <p:nvSpPr>
              <p:cNvPr id="50" name="Google Shape;50;p1"/>
              <p:cNvSpPr txBox="1"/>
              <p:nvPr/>
            </p:nvSpPr>
            <p:spPr>
              <a:xfrm>
                <a:off x="0" y="-38100"/>
                <a:ext cx="4241542" cy="444500"/>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sz="700">
                  <a:solidFill>
                    <a:schemeClr val="dk1"/>
                  </a:solidFill>
                  <a:latin typeface="Calibri"/>
                  <a:ea typeface="Calibri"/>
                  <a:cs typeface="Calibri"/>
                  <a:sym typeface="Calibri"/>
                </a:endParaRPr>
              </a:p>
            </p:txBody>
          </p:sp>
        </p:grpSp>
        <p:sp>
          <p:nvSpPr>
            <p:cNvPr id="51" name="Google Shape;51;p1"/>
            <p:cNvSpPr txBox="1"/>
            <p:nvPr/>
          </p:nvSpPr>
          <p:spPr>
            <a:xfrm>
              <a:off x="466725" y="3100839"/>
              <a:ext cx="3809409" cy="223587"/>
            </a:xfrm>
            <a:prstGeom prst="rect">
              <a:avLst/>
            </a:prstGeom>
            <a:noFill/>
            <a:ln>
              <a:noFill/>
            </a:ln>
          </p:spPr>
          <p:txBody>
            <a:bodyPr anchorCtr="0" anchor="t" bIns="0" lIns="0" spcFirstLastPara="1" rIns="0" wrap="square" tIns="0">
              <a:spAutoFit/>
            </a:bodyPr>
            <a:lstStyle/>
            <a:p>
              <a:pPr indent="0" lvl="0" marL="0" marR="0" rtl="0" algn="l">
                <a:lnSpc>
                  <a:spcPct val="138785"/>
                </a:lnSpc>
                <a:spcBef>
                  <a:spcPts val="0"/>
                </a:spcBef>
                <a:spcAft>
                  <a:spcPts val="0"/>
                </a:spcAft>
                <a:buNone/>
              </a:pPr>
              <a:r>
                <a:rPr b="1" lang="en-US" sz="1400">
                  <a:solidFill>
                    <a:srgbClr val="FFFFFF"/>
                  </a:solidFill>
                  <a:latin typeface="Arial"/>
                  <a:ea typeface="Arial"/>
                  <a:cs typeface="Arial"/>
                  <a:sym typeface="Arial"/>
                </a:rPr>
                <a:t>PRESENTATION 2026</a:t>
              </a:r>
              <a:endParaRPr/>
            </a:p>
          </p:txBody>
        </p:sp>
      </p:grpSp>
      <p:sp>
        <p:nvSpPr>
          <p:cNvPr id="52" name="Google Shape;52;p1"/>
          <p:cNvSpPr txBox="1"/>
          <p:nvPr/>
        </p:nvSpPr>
        <p:spPr>
          <a:xfrm>
            <a:off x="5041117" y="4325112"/>
            <a:ext cx="1633500" cy="153900"/>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lang="en-US" sz="1000">
                <a:solidFill>
                  <a:schemeClr val="dk1"/>
                </a:solidFill>
                <a:latin typeface="Arial"/>
                <a:ea typeface="Arial"/>
                <a:cs typeface="Arial"/>
                <a:sym typeface="Arial"/>
              </a:rPr>
              <a:t>Faculty Name</a:t>
            </a:r>
            <a:endParaRPr/>
          </a:p>
        </p:txBody>
      </p:sp>
      <p:sp>
        <p:nvSpPr>
          <p:cNvPr id="53" name="Google Shape;53;p1"/>
          <p:cNvSpPr txBox="1"/>
          <p:nvPr/>
        </p:nvSpPr>
        <p:spPr>
          <a:xfrm>
            <a:off x="5041118" y="4502451"/>
            <a:ext cx="1633500" cy="184800"/>
          </a:xfrm>
          <a:prstGeom prst="rect">
            <a:avLst/>
          </a:prstGeom>
          <a:noFill/>
          <a:ln>
            <a:noFill/>
          </a:ln>
        </p:spPr>
        <p:txBody>
          <a:bodyPr anchorCtr="0" anchor="t" bIns="0" lIns="0" spcFirstLastPara="1" rIns="0" wrap="square" tIns="0">
            <a:spAutoFit/>
          </a:bodyPr>
          <a:lstStyle/>
          <a:p>
            <a:pPr indent="0" lvl="0" marL="0" marR="0" rtl="0" algn="l">
              <a:lnSpc>
                <a:spcPct val="169833"/>
              </a:lnSpc>
              <a:spcBef>
                <a:spcPts val="0"/>
              </a:spcBef>
              <a:spcAft>
                <a:spcPts val="0"/>
              </a:spcAft>
              <a:buNone/>
            </a:pPr>
            <a:r>
              <a:rPr b="1" lang="en-US" sz="1200">
                <a:solidFill>
                  <a:srgbClr val="0D358D"/>
                </a:solidFill>
              </a:rPr>
              <a:t>Namrata Gaur</a:t>
            </a:r>
            <a:endParaRPr/>
          </a:p>
        </p:txBody>
      </p:sp>
      <p:pic>
        <p:nvPicPr>
          <p:cNvPr descr="A blue circle with a person and a envelope in it&#10;&#10;AI-generated content may be incorrect." id="54" name="Google Shape;54;p1"/>
          <p:cNvPicPr preferRelativeResize="0"/>
          <p:nvPr/>
        </p:nvPicPr>
        <p:blipFill rotWithShape="1">
          <a:blip r:embed="rId4">
            <a:alphaModFix/>
          </a:blip>
          <a:srcRect b="53701" l="26757" r="27842" t="2453"/>
          <a:stretch/>
        </p:blipFill>
        <p:spPr>
          <a:xfrm>
            <a:off x="4645799" y="4198561"/>
            <a:ext cx="395331" cy="381796"/>
          </a:xfrm>
          <a:prstGeom prst="rect">
            <a:avLst/>
          </a:prstGeom>
          <a:noFill/>
          <a:ln>
            <a:noFill/>
          </a:ln>
        </p:spPr>
      </p:pic>
      <p:sp>
        <p:nvSpPr>
          <p:cNvPr id="55" name="Google Shape;55;p1"/>
          <p:cNvSpPr txBox="1"/>
          <p:nvPr/>
        </p:nvSpPr>
        <p:spPr>
          <a:xfrm>
            <a:off x="2539621" y="4312519"/>
            <a:ext cx="1809900" cy="153900"/>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lang="en-US" sz="1000">
                <a:solidFill>
                  <a:schemeClr val="dk1"/>
                </a:solidFill>
                <a:latin typeface="Arial"/>
                <a:ea typeface="Arial"/>
                <a:cs typeface="Arial"/>
                <a:sym typeface="Arial"/>
              </a:rPr>
              <a:t>Faculty Email</a:t>
            </a:r>
            <a:endParaRPr/>
          </a:p>
        </p:txBody>
      </p:sp>
      <p:sp>
        <p:nvSpPr>
          <p:cNvPr id="56" name="Google Shape;56;p1"/>
          <p:cNvSpPr txBox="1"/>
          <p:nvPr/>
        </p:nvSpPr>
        <p:spPr>
          <a:xfrm>
            <a:off x="2539636" y="4511917"/>
            <a:ext cx="2272800" cy="184800"/>
          </a:xfrm>
          <a:prstGeom prst="rect">
            <a:avLst/>
          </a:prstGeom>
          <a:noFill/>
          <a:ln>
            <a:noFill/>
          </a:ln>
        </p:spPr>
        <p:txBody>
          <a:bodyPr anchorCtr="0" anchor="t" bIns="0" lIns="0" spcFirstLastPara="1" rIns="0" wrap="square" tIns="0">
            <a:spAutoFit/>
          </a:bodyPr>
          <a:lstStyle/>
          <a:p>
            <a:pPr indent="0" lvl="0" marL="0" marR="0" rtl="0" algn="l">
              <a:lnSpc>
                <a:spcPct val="169833"/>
              </a:lnSpc>
              <a:spcBef>
                <a:spcPts val="0"/>
              </a:spcBef>
              <a:spcAft>
                <a:spcPts val="0"/>
              </a:spcAft>
              <a:buNone/>
            </a:pPr>
            <a:r>
              <a:rPr b="1" lang="en-US" sz="1200">
                <a:solidFill>
                  <a:srgbClr val="0D358D"/>
                </a:solidFill>
              </a:rPr>
              <a:t>namo1999d@gmail.com</a:t>
            </a:r>
            <a:endParaRPr/>
          </a:p>
        </p:txBody>
      </p:sp>
      <p:pic>
        <p:nvPicPr>
          <p:cNvPr descr="A blue circle with a person and a envelope in it&#10;&#10;AI-generated content may be incorrect." id="57" name="Google Shape;57;p1"/>
          <p:cNvPicPr preferRelativeResize="0"/>
          <p:nvPr/>
        </p:nvPicPr>
        <p:blipFill rotWithShape="1">
          <a:blip r:embed="rId4">
            <a:alphaModFix/>
          </a:blip>
          <a:srcRect b="2349" l="26859" r="26874" t="52379"/>
          <a:stretch/>
        </p:blipFill>
        <p:spPr>
          <a:xfrm>
            <a:off x="2141340" y="4235613"/>
            <a:ext cx="398279" cy="389719"/>
          </a:xfrm>
          <a:prstGeom prst="rect">
            <a:avLst/>
          </a:prstGeom>
          <a:noFill/>
          <a:ln>
            <a:noFill/>
          </a:ln>
        </p:spPr>
      </p:pic>
      <p:grpSp>
        <p:nvGrpSpPr>
          <p:cNvPr id="58" name="Google Shape;58;p1"/>
          <p:cNvGrpSpPr/>
          <p:nvPr/>
        </p:nvGrpSpPr>
        <p:grpSpPr>
          <a:xfrm>
            <a:off x="716709" y="4289501"/>
            <a:ext cx="2272800" cy="407234"/>
            <a:chOff x="3122424" y="4295282"/>
            <a:chExt cx="2272800" cy="407234"/>
          </a:xfrm>
        </p:grpSpPr>
        <p:sp>
          <p:nvSpPr>
            <p:cNvPr id="59" name="Google Shape;59;p1"/>
            <p:cNvSpPr txBox="1"/>
            <p:nvPr/>
          </p:nvSpPr>
          <p:spPr>
            <a:xfrm>
              <a:off x="3139699" y="4295282"/>
              <a:ext cx="1809900" cy="153900"/>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lang="en-US" sz="1000">
                  <a:solidFill>
                    <a:schemeClr val="dk1"/>
                  </a:solidFill>
                  <a:latin typeface="Arial"/>
                  <a:ea typeface="Arial"/>
                  <a:cs typeface="Arial"/>
                  <a:sym typeface="Arial"/>
                </a:rPr>
                <a:t>Mentor Name</a:t>
              </a:r>
              <a:endParaRPr/>
            </a:p>
          </p:txBody>
        </p:sp>
        <p:sp>
          <p:nvSpPr>
            <p:cNvPr id="60" name="Google Shape;60;p1"/>
            <p:cNvSpPr txBox="1"/>
            <p:nvPr/>
          </p:nvSpPr>
          <p:spPr>
            <a:xfrm>
              <a:off x="3122424" y="4517716"/>
              <a:ext cx="2272800" cy="184800"/>
            </a:xfrm>
            <a:prstGeom prst="rect">
              <a:avLst/>
            </a:prstGeom>
            <a:noFill/>
            <a:ln>
              <a:noFill/>
            </a:ln>
          </p:spPr>
          <p:txBody>
            <a:bodyPr anchorCtr="0" anchor="t" bIns="0" lIns="0" spcFirstLastPara="1" rIns="0" wrap="square" tIns="0">
              <a:spAutoFit/>
            </a:bodyPr>
            <a:lstStyle/>
            <a:p>
              <a:pPr indent="0" lvl="0" marL="0" marR="0" rtl="0" algn="l">
                <a:lnSpc>
                  <a:spcPct val="169833"/>
                </a:lnSpc>
                <a:spcBef>
                  <a:spcPts val="0"/>
                </a:spcBef>
                <a:spcAft>
                  <a:spcPts val="0"/>
                </a:spcAft>
                <a:buNone/>
              </a:pPr>
              <a:r>
                <a:rPr b="1" lang="en-US" sz="1200">
                  <a:solidFill>
                    <a:srgbClr val="0D358D"/>
                  </a:solidFill>
                </a:rPr>
                <a:t>Umamaheshwari R</a:t>
              </a:r>
              <a:endParaRPr/>
            </a:p>
          </p:txBody>
        </p:sp>
      </p:grpSp>
      <p:pic>
        <p:nvPicPr>
          <p:cNvPr id="61" name="Google Shape;61;p1"/>
          <p:cNvPicPr preferRelativeResize="0"/>
          <p:nvPr/>
        </p:nvPicPr>
        <p:blipFill rotWithShape="1">
          <a:blip r:embed="rId5">
            <a:alphaModFix/>
          </a:blip>
          <a:srcRect b="49509" l="28109" r="28551" t="6546"/>
          <a:stretch/>
        </p:blipFill>
        <p:spPr>
          <a:xfrm>
            <a:off x="364868" y="4272161"/>
            <a:ext cx="375816" cy="381062"/>
          </a:xfrm>
          <a:prstGeom prst="rect">
            <a:avLst/>
          </a:prstGeom>
          <a:noFill/>
          <a:ln>
            <a:noFill/>
          </a:ln>
        </p:spPr>
      </p:pic>
      <p:grpSp>
        <p:nvGrpSpPr>
          <p:cNvPr id="62" name="Google Shape;62;p1"/>
          <p:cNvGrpSpPr/>
          <p:nvPr/>
        </p:nvGrpSpPr>
        <p:grpSpPr>
          <a:xfrm>
            <a:off x="640733" y="769747"/>
            <a:ext cx="3051630" cy="258616"/>
            <a:chOff x="1068621" y="826472"/>
            <a:chExt cx="2166264" cy="183584"/>
          </a:xfrm>
        </p:grpSpPr>
        <p:pic>
          <p:nvPicPr>
            <p:cNvPr descr="A blue and black logo&#10;&#10;AI-generated content may be incorrect." id="63" name="Google Shape;63;p1"/>
            <p:cNvPicPr preferRelativeResize="0"/>
            <p:nvPr/>
          </p:nvPicPr>
          <p:blipFill rotWithShape="1">
            <a:blip r:embed="rId6">
              <a:alphaModFix/>
            </a:blip>
            <a:srcRect b="0" l="0" r="0" t="0"/>
            <a:stretch/>
          </p:blipFill>
          <p:spPr>
            <a:xfrm>
              <a:off x="1068621" y="826472"/>
              <a:ext cx="632879" cy="158848"/>
            </a:xfrm>
            <a:prstGeom prst="rect">
              <a:avLst/>
            </a:prstGeom>
            <a:noFill/>
            <a:ln>
              <a:noFill/>
            </a:ln>
          </p:spPr>
        </p:pic>
        <p:pic>
          <p:nvPicPr>
            <p:cNvPr descr="A close up of a logo&#10;&#10;AI-generated content may be incorrect." id="64" name="Google Shape;64;p1"/>
            <p:cNvPicPr preferRelativeResize="0"/>
            <p:nvPr/>
          </p:nvPicPr>
          <p:blipFill rotWithShape="1">
            <a:blip r:embed="rId7">
              <a:alphaModFix/>
            </a:blip>
            <a:srcRect b="0" l="0" r="0" t="0"/>
            <a:stretch/>
          </p:blipFill>
          <p:spPr>
            <a:xfrm>
              <a:off x="2670437" y="826472"/>
              <a:ext cx="564448" cy="183584"/>
            </a:xfrm>
            <a:prstGeom prst="rect">
              <a:avLst/>
            </a:prstGeom>
            <a:noFill/>
            <a:ln>
              <a:noFill/>
            </a:ln>
          </p:spPr>
        </p:pic>
      </p:grpSp>
      <p:sp>
        <p:nvSpPr>
          <p:cNvPr id="65" name="Google Shape;65;p1"/>
          <p:cNvSpPr/>
          <p:nvPr/>
        </p:nvSpPr>
        <p:spPr>
          <a:xfrm rot="-3404029">
            <a:off x="5802826" y="2309413"/>
            <a:ext cx="283464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1"/>
          <p:cNvSpPr/>
          <p:nvPr/>
        </p:nvSpPr>
        <p:spPr>
          <a:xfrm rot="-3404029">
            <a:off x="6146363" y="2413708"/>
            <a:ext cx="246888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1"/>
          <p:cNvSpPr/>
          <p:nvPr/>
        </p:nvSpPr>
        <p:spPr>
          <a:xfrm rot="-3404029">
            <a:off x="6482126" y="2528680"/>
            <a:ext cx="2103120" cy="109728"/>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1"/>
          <p:cNvSpPr/>
          <p:nvPr/>
        </p:nvSpPr>
        <p:spPr>
          <a:xfrm rot="-3404029">
            <a:off x="6735713" y="2647223"/>
            <a:ext cx="1872046" cy="116269"/>
          </a:xfrm>
          <a:prstGeom prst="rect">
            <a:avLst/>
          </a:prstGeom>
          <a:solidFill>
            <a:srgbClr val="4FC3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9" name="Google Shape;69;p1"/>
          <p:cNvPicPr preferRelativeResize="0"/>
          <p:nvPr/>
        </p:nvPicPr>
        <p:blipFill rotWithShape="1">
          <a:blip r:embed="rId8">
            <a:alphaModFix/>
          </a:blip>
          <a:srcRect b="19729" l="0" r="0" t="0"/>
          <a:stretch/>
        </p:blipFill>
        <p:spPr>
          <a:xfrm>
            <a:off x="173754" y="1046557"/>
            <a:ext cx="3854253" cy="1849530"/>
          </a:xfrm>
          <a:prstGeom prst="rect">
            <a:avLst/>
          </a:prstGeom>
          <a:noFill/>
          <a:ln>
            <a:noFill/>
          </a:ln>
        </p:spPr>
      </p:pic>
      <p:graphicFrame>
        <p:nvGraphicFramePr>
          <p:cNvPr id="70" name="Google Shape;70;p1"/>
          <p:cNvGraphicFramePr/>
          <p:nvPr/>
        </p:nvGraphicFramePr>
        <p:xfrm>
          <a:off x="4663" y="3463064"/>
          <a:ext cx="3000000" cy="3000000"/>
        </p:xfrm>
        <a:graphic>
          <a:graphicData uri="http://schemas.openxmlformats.org/drawingml/2006/table">
            <a:tbl>
              <a:tblPr>
                <a:noFill/>
                <a:tableStyleId>{90606B37-A2F0-4C30-953B-2D1343C29F04}</a:tableStyleId>
              </a:tblPr>
              <a:tblGrid>
                <a:gridCol w="5667200"/>
              </a:tblGrid>
              <a:tr h="370850">
                <a:tc>
                  <a:txBody>
                    <a:bodyPr/>
                    <a:lstStyle/>
                    <a:p>
                      <a:pPr indent="0" lvl="0" marL="0" marR="0" rtl="0" algn="l">
                        <a:spcBef>
                          <a:spcPts val="0"/>
                        </a:spcBef>
                        <a:spcAft>
                          <a:spcPts val="0"/>
                        </a:spcAft>
                        <a:buNone/>
                      </a:pPr>
                      <a:r>
                        <a:rPr b="1" lang="en-US">
                          <a:solidFill>
                            <a:srgbClr val="0D358D"/>
                          </a:solidFill>
                          <a:latin typeface="Arial"/>
                          <a:ea typeface="Arial"/>
                          <a:cs typeface="Arial"/>
                          <a:sym typeface="Arial"/>
                        </a:rPr>
                        <a:t>SEMESTER SMART: </a:t>
                      </a:r>
                      <a:endParaRPr b="1">
                        <a:solidFill>
                          <a:srgbClr val="0D358D"/>
                        </a:solidFill>
                        <a:latin typeface="Arial"/>
                        <a:ea typeface="Arial"/>
                        <a:cs typeface="Arial"/>
                        <a:sym typeface="Arial"/>
                      </a:endParaRPr>
                    </a:p>
                    <a:p>
                      <a:pPr indent="0" lvl="0" marL="0" marR="0" rtl="0" algn="l">
                        <a:spcBef>
                          <a:spcPts val="0"/>
                        </a:spcBef>
                        <a:spcAft>
                          <a:spcPts val="0"/>
                        </a:spcAft>
                        <a:buNone/>
                      </a:pPr>
                      <a:r>
                        <a:rPr b="1" lang="en-US">
                          <a:solidFill>
                            <a:srgbClr val="0D358D"/>
                          </a:solidFill>
                          <a:latin typeface="Arial"/>
                          <a:ea typeface="Arial"/>
                          <a:cs typeface="Arial"/>
                          <a:sym typeface="Arial"/>
                        </a:rPr>
                        <a:t>Structured Planning for Teachers, Instant Answers for Students</a:t>
                      </a:r>
                      <a:endParaRPr b="1">
                        <a:solidFill>
                          <a:srgbClr val="0D358D"/>
                        </a:solidFill>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2"/>
          <p:cNvSpPr/>
          <p:nvPr/>
        </p:nvSpPr>
        <p:spPr>
          <a:xfrm>
            <a:off x="130350" y="610217"/>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Outline</a:t>
            </a:r>
            <a:endParaRPr sz="2000">
              <a:solidFill>
                <a:schemeClr val="dk1"/>
              </a:solidFill>
              <a:latin typeface="Lato"/>
              <a:ea typeface="Lato"/>
              <a:cs typeface="Lato"/>
              <a:sym typeface="Lato"/>
            </a:endParaRPr>
          </a:p>
        </p:txBody>
      </p:sp>
      <p:sp>
        <p:nvSpPr>
          <p:cNvPr id="77" name="Google Shape;77;p2"/>
          <p:cNvSpPr txBox="1"/>
          <p:nvPr/>
        </p:nvSpPr>
        <p:spPr>
          <a:xfrm>
            <a:off x="125239" y="1080603"/>
            <a:ext cx="4446761" cy="302647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1800"/>
              <a:buFont typeface="Arial"/>
              <a:buChar char="•"/>
            </a:pPr>
            <a:r>
              <a:rPr lang="en-US" sz="1800">
                <a:solidFill>
                  <a:schemeClr val="dk1"/>
                </a:solidFill>
                <a:latin typeface="Lato"/>
                <a:ea typeface="Lato"/>
                <a:cs typeface="Lato"/>
                <a:sym typeface="Lato"/>
              </a:rPr>
              <a:t>Abstract of the Project</a:t>
            </a:r>
            <a:endParaRPr sz="1800">
              <a:solidFill>
                <a:schemeClr val="dk1"/>
              </a:solidFill>
              <a:latin typeface="Lato"/>
              <a:ea typeface="Lato"/>
              <a:cs typeface="Lato"/>
              <a:sym typeface="Lato"/>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Problem Statement</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Proposed Solution</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System Architecture</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Live Demo of the Project</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Embedded Video of Project</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Conclusion</a:t>
            </a:r>
            <a:endParaRPr/>
          </a:p>
          <a:p>
            <a:pPr indent="-228600" lvl="0" marL="228600" marR="0" rtl="0" algn="l">
              <a:spcBef>
                <a:spcPts val="800"/>
              </a:spcBef>
              <a:spcAft>
                <a:spcPts val="0"/>
              </a:spcAft>
              <a:buClr>
                <a:schemeClr val="dk1"/>
              </a:buClr>
              <a:buSzPts val="1800"/>
              <a:buFont typeface="Arial"/>
              <a:buChar char="•"/>
            </a:pPr>
            <a:r>
              <a:rPr lang="en-US" sz="1800">
                <a:solidFill>
                  <a:schemeClr val="dk1"/>
                </a:solidFill>
                <a:latin typeface="Lato"/>
                <a:ea typeface="Lato"/>
                <a:cs typeface="Lato"/>
                <a:sym typeface="Lato"/>
              </a:rPr>
              <a:t>Future Scope</a:t>
            </a:r>
            <a:endParaRPr/>
          </a:p>
        </p:txBody>
      </p:sp>
      <p:pic>
        <p:nvPicPr>
          <p:cNvPr descr="A screen shot of a computer&#10;&#10;AI-generated content may be incorrect." id="78" name="Google Shape;78;p2"/>
          <p:cNvPicPr preferRelativeResize="0"/>
          <p:nvPr/>
        </p:nvPicPr>
        <p:blipFill rotWithShape="1">
          <a:blip r:embed="rId3">
            <a:alphaModFix/>
          </a:blip>
          <a:srcRect b="28715" l="25250" r="18976" t="7320"/>
          <a:stretch/>
        </p:blipFill>
        <p:spPr>
          <a:xfrm>
            <a:off x="5378824" y="1034325"/>
            <a:ext cx="2868706" cy="3290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3"/>
          <p:cNvSpPr/>
          <p:nvPr/>
        </p:nvSpPr>
        <p:spPr>
          <a:xfrm>
            <a:off x="140079" y="607520"/>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Abstract</a:t>
            </a:r>
            <a:endParaRPr sz="2000">
              <a:solidFill>
                <a:schemeClr val="dk1"/>
              </a:solidFill>
              <a:latin typeface="Lato"/>
              <a:ea typeface="Lato"/>
              <a:cs typeface="Lato"/>
              <a:sym typeface="Lato"/>
            </a:endParaRPr>
          </a:p>
        </p:txBody>
      </p:sp>
      <p:sp>
        <p:nvSpPr>
          <p:cNvPr id="85" name="Google Shape;85;p3"/>
          <p:cNvSpPr txBox="1"/>
          <p:nvPr/>
        </p:nvSpPr>
        <p:spPr>
          <a:xfrm>
            <a:off x="140075" y="1046425"/>
            <a:ext cx="5457000" cy="4040400"/>
          </a:xfrm>
          <a:prstGeom prst="rect">
            <a:avLst/>
          </a:prstGeom>
          <a:noFill/>
          <a:ln>
            <a:noFill/>
          </a:ln>
        </p:spPr>
        <p:txBody>
          <a:bodyPr anchorCtr="0" anchor="t" bIns="45700" lIns="91425" spcFirstLastPara="1" rIns="91425" wrap="square" tIns="45700">
            <a:spAutoFit/>
          </a:bodyPr>
          <a:lstStyle/>
          <a:p>
            <a:pPr indent="-323850" lvl="0" marL="457200" rtl="0" algn="just">
              <a:lnSpc>
                <a:spcPct val="115000"/>
              </a:lnSpc>
              <a:spcBef>
                <a:spcPts val="800"/>
              </a:spcBef>
              <a:spcAft>
                <a:spcPts val="0"/>
              </a:spcAft>
              <a:buClr>
                <a:schemeClr val="dk1"/>
              </a:buClr>
              <a:buSzPts val="1500"/>
              <a:buChar char="●"/>
            </a:pPr>
            <a:r>
              <a:rPr lang="en-US" sz="1500">
                <a:solidFill>
                  <a:schemeClr val="dk1"/>
                </a:solidFill>
              </a:rPr>
              <a:t>This project, </a:t>
            </a:r>
            <a:r>
              <a:rPr i="1" lang="en-US" sz="1500">
                <a:solidFill>
                  <a:schemeClr val="dk1"/>
                </a:solidFill>
              </a:rPr>
              <a:t>Semester Smart</a:t>
            </a:r>
            <a:r>
              <a:rPr lang="en-US" sz="1500">
                <a:solidFill>
                  <a:schemeClr val="dk1"/>
                </a:solidFill>
              </a:rPr>
              <a:t>, focuses on organizing academic schedules using a structured Excel dashboard and a rule-based AI chatbot.</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en-US" sz="1500">
                <a:solidFill>
                  <a:schemeClr val="dk1"/>
                </a:solidFill>
              </a:rPr>
              <a:t>The objective is to simplify semester planning and provide quick, accurate academic information to both faculty and students.</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en-US" sz="1500">
                <a:solidFill>
                  <a:schemeClr val="dk1"/>
                </a:solidFill>
              </a:rPr>
              <a:t>Tools used include Microsoft Excel (Pivot Tables, Slicers, Dashboard) and Microsoft Copilot Studio for chatbot development.</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en-US" sz="1500">
                <a:solidFill>
                  <a:schemeClr val="dk1"/>
                </a:solidFill>
              </a:rPr>
              <a:t>The expected outcome is an interactive dashboard for workload visualization and a chatbot that provides instant query resolution.</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en-US" sz="1500">
                <a:solidFill>
                  <a:schemeClr val="dk1"/>
                </a:solidFill>
              </a:rPr>
              <a:t>A key highlight is the integration of data visualization with a rule-based AI assistant, ensuring accuracy, usability, and improved academic planning efficiency.</a:t>
            </a:r>
            <a:endParaRPr sz="1800">
              <a:solidFill>
                <a:schemeClr val="dk1"/>
              </a:solidFill>
            </a:endParaRPr>
          </a:p>
        </p:txBody>
      </p:sp>
      <p:sp>
        <p:nvSpPr>
          <p:cNvPr id="86" name="Google Shape;86;p3"/>
          <p:cNvSpPr/>
          <p:nvPr/>
        </p:nvSpPr>
        <p:spPr>
          <a:xfrm>
            <a:off x="5814470" y="1082801"/>
            <a:ext cx="3070450" cy="2997875"/>
          </a:xfrm>
          <a:custGeom>
            <a:rect b="b" l="l" r="r" t="t"/>
            <a:pathLst>
              <a:path extrusionOk="0" h="4017541" w="4114800">
                <a:moveTo>
                  <a:pt x="0" y="0"/>
                </a:moveTo>
                <a:lnTo>
                  <a:pt x="4114800" y="0"/>
                </a:lnTo>
                <a:lnTo>
                  <a:pt x="4114800" y="4017541"/>
                </a:lnTo>
                <a:lnTo>
                  <a:pt x="0" y="4017541"/>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id="92" name="Google Shape;92;p4"/>
          <p:cNvPicPr preferRelativeResize="0"/>
          <p:nvPr/>
        </p:nvPicPr>
        <p:blipFill rotWithShape="1">
          <a:blip r:embed="rId3">
            <a:alphaModFix/>
          </a:blip>
          <a:srcRect b="0" l="0" r="0" t="0"/>
          <a:stretch/>
        </p:blipFill>
        <p:spPr>
          <a:xfrm>
            <a:off x="4888151" y="873760"/>
            <a:ext cx="3947240" cy="3947240"/>
          </a:xfrm>
          <a:prstGeom prst="rect">
            <a:avLst/>
          </a:prstGeom>
          <a:noFill/>
          <a:ln>
            <a:noFill/>
          </a:ln>
        </p:spPr>
      </p:pic>
      <p:sp>
        <p:nvSpPr>
          <p:cNvPr id="93" name="Google Shape;93;p4"/>
          <p:cNvSpPr/>
          <p:nvPr/>
        </p:nvSpPr>
        <p:spPr>
          <a:xfrm>
            <a:off x="125248" y="434861"/>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Problem Statement</a:t>
            </a:r>
            <a:endParaRPr sz="2000">
              <a:solidFill>
                <a:schemeClr val="dk1"/>
              </a:solidFill>
              <a:latin typeface="Lato"/>
              <a:ea typeface="Lato"/>
              <a:cs typeface="Lato"/>
              <a:sym typeface="Lato"/>
            </a:endParaRPr>
          </a:p>
        </p:txBody>
      </p:sp>
      <p:sp>
        <p:nvSpPr>
          <p:cNvPr id="94" name="Google Shape;94;p4"/>
          <p:cNvSpPr txBox="1"/>
          <p:nvPr/>
        </p:nvSpPr>
        <p:spPr>
          <a:xfrm>
            <a:off x="0" y="971550"/>
            <a:ext cx="5134500" cy="3950700"/>
          </a:xfrm>
          <a:prstGeom prst="rect">
            <a:avLst/>
          </a:prstGeom>
          <a:noFill/>
          <a:ln>
            <a:noFill/>
          </a:ln>
        </p:spPr>
        <p:txBody>
          <a:bodyPr anchorCtr="0" anchor="t" bIns="45700" lIns="91425" spcFirstLastPara="1" rIns="91425" wrap="square" tIns="45700">
            <a:spAutoFit/>
          </a:bodyPr>
          <a:lstStyle/>
          <a:p>
            <a:pPr indent="-215900" lvl="0" marL="228600" marR="0" rtl="0" algn="just">
              <a:spcBef>
                <a:spcPts val="0"/>
              </a:spcBef>
              <a:spcAft>
                <a:spcPts val="0"/>
              </a:spcAft>
              <a:buClr>
                <a:schemeClr val="dk1"/>
              </a:buClr>
              <a:buSzPts val="1600"/>
              <a:buFont typeface="Arial"/>
              <a:buChar char="•"/>
            </a:pPr>
            <a:r>
              <a:rPr lang="en-US" sz="1600">
                <a:solidFill>
                  <a:schemeClr val="dk1"/>
                </a:solidFill>
                <a:latin typeface="Lato"/>
                <a:ea typeface="Lato"/>
                <a:cs typeface="Lato"/>
                <a:sym typeface="Lato"/>
              </a:rPr>
              <a:t>Academic data is scattered across multiple sources (Excel sheets, notices, PDFs) and no centralized system for semester planning. </a:t>
            </a:r>
            <a:endParaRPr sz="1200"/>
          </a:p>
          <a:p>
            <a:pPr indent="-215900" lvl="0" marL="228600" marR="0" rtl="0" algn="just">
              <a:spcBef>
                <a:spcPts val="800"/>
              </a:spcBef>
              <a:spcAft>
                <a:spcPts val="0"/>
              </a:spcAft>
              <a:buClr>
                <a:schemeClr val="dk1"/>
              </a:buClr>
              <a:buSzPts val="1600"/>
              <a:buFont typeface="Arial"/>
              <a:buChar char="•"/>
            </a:pPr>
            <a:r>
              <a:rPr lang="en-US" sz="1600">
                <a:solidFill>
                  <a:schemeClr val="dk1"/>
                </a:solidFill>
                <a:latin typeface="Lato"/>
                <a:ea typeface="Lato"/>
                <a:cs typeface="Lato"/>
                <a:sym typeface="Lato"/>
              </a:rPr>
              <a:t>It leads to confusion, inefficiency, poor planning, and lack of timely academic decision-making for students and faculty</a:t>
            </a:r>
            <a:r>
              <a:rPr lang="en-US" sz="1600">
                <a:solidFill>
                  <a:schemeClr val="dk1"/>
                </a:solidFill>
                <a:latin typeface="Lato"/>
                <a:ea typeface="Lato"/>
                <a:cs typeface="Lato"/>
                <a:sym typeface="Lato"/>
              </a:rPr>
              <a:t>.</a:t>
            </a:r>
            <a:endParaRPr sz="1200"/>
          </a:p>
          <a:p>
            <a:pPr indent="-215900" lvl="0" marL="228600" marR="0" rtl="0" algn="just">
              <a:spcBef>
                <a:spcPts val="800"/>
              </a:spcBef>
              <a:spcAft>
                <a:spcPts val="0"/>
              </a:spcAft>
              <a:buClr>
                <a:schemeClr val="dk1"/>
              </a:buClr>
              <a:buSzPts val="1600"/>
              <a:buFont typeface="Arial"/>
              <a:buChar char="•"/>
            </a:pPr>
            <a:r>
              <a:rPr lang="en-US" sz="1600">
                <a:solidFill>
                  <a:schemeClr val="dk1"/>
                </a:solidFill>
                <a:latin typeface="Lato"/>
                <a:ea typeface="Lato"/>
                <a:cs typeface="Lato"/>
                <a:sym typeface="Lato"/>
              </a:rPr>
              <a:t>Students (especially first-year confusion) and Teachers (managing multiple academic tasks) and academic administration are majorly affected </a:t>
            </a:r>
            <a:endParaRPr sz="1200"/>
          </a:p>
          <a:p>
            <a:pPr indent="-215900" lvl="0" marL="228600" marR="0" rtl="0" algn="just">
              <a:spcBef>
                <a:spcPts val="800"/>
              </a:spcBef>
              <a:spcAft>
                <a:spcPts val="0"/>
              </a:spcAft>
              <a:buClr>
                <a:schemeClr val="dk1"/>
              </a:buClr>
              <a:buSzPts val="1600"/>
              <a:buFont typeface="Arial"/>
              <a:buChar char="•"/>
            </a:pPr>
            <a:r>
              <a:rPr lang="en-US" sz="1600">
                <a:solidFill>
                  <a:schemeClr val="dk1"/>
                </a:solidFill>
                <a:latin typeface="Lato"/>
                <a:ea typeface="Lato"/>
                <a:cs typeface="Lato"/>
                <a:sym typeface="Lato"/>
              </a:rPr>
              <a:t>Current systems are static, fragmented, and lack integration of data with interactive or AI-based tools. </a:t>
            </a:r>
            <a:endParaRPr sz="1200"/>
          </a:p>
          <a:p>
            <a:pPr indent="-215900" lvl="0" marL="228600" marR="0" rtl="0" algn="just">
              <a:spcBef>
                <a:spcPts val="800"/>
              </a:spcBef>
              <a:spcAft>
                <a:spcPts val="0"/>
              </a:spcAft>
              <a:buClr>
                <a:schemeClr val="dk1"/>
              </a:buClr>
              <a:buSzPts val="1600"/>
              <a:buFont typeface="Arial"/>
              <a:buChar char="•"/>
            </a:pPr>
            <a:r>
              <a:rPr lang="en-US" sz="1600">
                <a:solidFill>
                  <a:schemeClr val="dk1"/>
                </a:solidFill>
                <a:latin typeface="Lato"/>
                <a:ea typeface="Lato"/>
                <a:cs typeface="Lato"/>
                <a:sym typeface="Lato"/>
              </a:rPr>
              <a:t>The project is limited to one semester dataset using Excel dashboard and AI chatbot, without real-time integration or institutional deployment.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pic>
        <p:nvPicPr>
          <p:cNvPr id="100" name="Google Shape;100;p5"/>
          <p:cNvPicPr preferRelativeResize="0"/>
          <p:nvPr/>
        </p:nvPicPr>
        <p:blipFill rotWithShape="1">
          <a:blip r:embed="rId3">
            <a:alphaModFix/>
          </a:blip>
          <a:srcRect b="0" l="0" r="0" t="0"/>
          <a:stretch/>
        </p:blipFill>
        <p:spPr>
          <a:xfrm>
            <a:off x="4240286" y="725532"/>
            <a:ext cx="4903714" cy="4203183"/>
          </a:xfrm>
          <a:prstGeom prst="rect">
            <a:avLst/>
          </a:prstGeom>
          <a:noFill/>
          <a:ln>
            <a:noFill/>
          </a:ln>
        </p:spPr>
      </p:pic>
      <p:sp>
        <p:nvSpPr>
          <p:cNvPr id="101" name="Google Shape;101;p5"/>
          <p:cNvSpPr/>
          <p:nvPr/>
        </p:nvSpPr>
        <p:spPr>
          <a:xfrm>
            <a:off x="125486" y="462355"/>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Proposed Solution</a:t>
            </a:r>
            <a:endParaRPr sz="2000">
              <a:solidFill>
                <a:schemeClr val="dk1"/>
              </a:solidFill>
              <a:latin typeface="Lato"/>
              <a:ea typeface="Lato"/>
              <a:cs typeface="Lato"/>
              <a:sym typeface="Lato"/>
            </a:endParaRPr>
          </a:p>
        </p:txBody>
      </p:sp>
      <p:sp>
        <p:nvSpPr>
          <p:cNvPr id="102" name="Google Shape;102;p5"/>
          <p:cNvSpPr/>
          <p:nvPr/>
        </p:nvSpPr>
        <p:spPr>
          <a:xfrm>
            <a:off x="4846320" y="1280160"/>
            <a:ext cx="3931920" cy="18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8000"/>
              <a:buFont typeface="Calibri"/>
              <a:buNone/>
            </a:pPr>
            <a:r>
              <a:t/>
            </a:r>
            <a:endParaRPr sz="8000">
              <a:solidFill>
                <a:schemeClr val="dk1"/>
              </a:solidFill>
              <a:latin typeface="Calibri"/>
              <a:ea typeface="Calibri"/>
              <a:cs typeface="Calibri"/>
              <a:sym typeface="Calibri"/>
            </a:endParaRPr>
          </a:p>
        </p:txBody>
      </p:sp>
      <p:sp>
        <p:nvSpPr>
          <p:cNvPr id="103" name="Google Shape;103;p5"/>
          <p:cNvSpPr/>
          <p:nvPr/>
        </p:nvSpPr>
        <p:spPr>
          <a:xfrm>
            <a:off x="125475" y="901250"/>
            <a:ext cx="5092200" cy="4203300"/>
          </a:xfrm>
          <a:prstGeom prst="rect">
            <a:avLst/>
          </a:prstGeom>
          <a:noFill/>
          <a:ln>
            <a:noFill/>
          </a:ln>
        </p:spPr>
        <p:txBody>
          <a:bodyPr anchorCtr="0" anchor="t" bIns="45700" lIns="91425" spcFirstLastPara="1" rIns="91425" wrap="square" tIns="45700">
            <a:noAutofit/>
          </a:bodyPr>
          <a:lstStyle/>
          <a:p>
            <a:pPr indent="-317500" lvl="0" marL="457200" marR="0" rtl="0" algn="just">
              <a:spcBef>
                <a:spcPts val="0"/>
              </a:spcBef>
              <a:spcAft>
                <a:spcPts val="0"/>
              </a:spcAft>
              <a:buClr>
                <a:srgbClr val="1A1A2E"/>
              </a:buClr>
              <a:buSzPts val="1400"/>
              <a:buFont typeface="Lato"/>
              <a:buChar char="●"/>
            </a:pPr>
            <a:r>
              <a:rPr lang="en-US">
                <a:solidFill>
                  <a:srgbClr val="1A1A2E"/>
                </a:solidFill>
                <a:latin typeface="Lato"/>
                <a:ea typeface="Lato"/>
                <a:cs typeface="Lato"/>
                <a:sym typeface="Lato"/>
              </a:rPr>
              <a:t>The proposed solution is a structured academic planning system that combines an interactive Excel dashboard with a rule-based AI chatbot to centralize and simplify semester-related information.</a:t>
            </a:r>
            <a:endParaRPr>
              <a:solidFill>
                <a:srgbClr val="1A1A2E"/>
              </a:solidFill>
              <a:latin typeface="Lato"/>
              <a:ea typeface="Lato"/>
              <a:cs typeface="Lato"/>
              <a:sym typeface="Lato"/>
            </a:endParaRPr>
          </a:p>
          <a:p>
            <a:pPr indent="-317500" lvl="0" marL="457200" rtl="0" algn="just">
              <a:spcBef>
                <a:spcPts val="0"/>
              </a:spcBef>
              <a:spcAft>
                <a:spcPts val="0"/>
              </a:spcAft>
              <a:buClr>
                <a:srgbClr val="1A1A2E"/>
              </a:buClr>
              <a:buSzPts val="1400"/>
              <a:buFont typeface="Lato"/>
              <a:buChar char="●"/>
            </a:pPr>
            <a:r>
              <a:rPr lang="en-US">
                <a:solidFill>
                  <a:srgbClr val="1A1A2E"/>
                </a:solidFill>
                <a:latin typeface="Lato"/>
                <a:ea typeface="Lato"/>
                <a:cs typeface="Lato"/>
                <a:sym typeface="Lato"/>
              </a:rPr>
              <a:t>This approach solves the problem of scattered data by organizing all academic events into a single dataset and enabling easy access through visual dashboards and instant chatbot responses.</a:t>
            </a:r>
            <a:endParaRPr>
              <a:solidFill>
                <a:srgbClr val="1A1A2E"/>
              </a:solidFill>
              <a:latin typeface="Lato"/>
              <a:ea typeface="Lato"/>
              <a:cs typeface="Lato"/>
              <a:sym typeface="Lato"/>
            </a:endParaRPr>
          </a:p>
          <a:p>
            <a:pPr indent="-317500" lvl="0" marL="457200" rtl="0" algn="just">
              <a:spcBef>
                <a:spcPts val="0"/>
              </a:spcBef>
              <a:spcAft>
                <a:spcPts val="0"/>
              </a:spcAft>
              <a:buClr>
                <a:srgbClr val="1A1A2E"/>
              </a:buClr>
              <a:buSzPts val="1400"/>
              <a:buFont typeface="Lato"/>
              <a:buChar char="●"/>
            </a:pPr>
            <a:r>
              <a:rPr lang="en-US">
                <a:solidFill>
                  <a:srgbClr val="1A1A2E"/>
                </a:solidFill>
                <a:latin typeface="Lato"/>
                <a:ea typeface="Lato"/>
                <a:cs typeface="Lato"/>
                <a:sym typeface="Lato"/>
              </a:rPr>
              <a:t>The methodology includes data collection, cleaning and structuring in Microsoft Excel, analysis using pivot tables and slicers, and chatbot development using Microsoft Copilot Studio with rule-based logic.</a:t>
            </a:r>
            <a:endParaRPr>
              <a:solidFill>
                <a:srgbClr val="1A1A2E"/>
              </a:solidFill>
              <a:latin typeface="Lato"/>
              <a:ea typeface="Lato"/>
              <a:cs typeface="Lato"/>
              <a:sym typeface="Lato"/>
            </a:endParaRPr>
          </a:p>
          <a:p>
            <a:pPr indent="-317500" lvl="0" marL="457200" rtl="0" algn="just">
              <a:spcBef>
                <a:spcPts val="0"/>
              </a:spcBef>
              <a:spcAft>
                <a:spcPts val="0"/>
              </a:spcAft>
              <a:buClr>
                <a:srgbClr val="1A1A2E"/>
              </a:buClr>
              <a:buSzPts val="1400"/>
              <a:buFont typeface="Lato"/>
              <a:buChar char="●"/>
            </a:pPr>
            <a:r>
              <a:rPr lang="en-US">
                <a:solidFill>
                  <a:srgbClr val="1A1A2E"/>
                </a:solidFill>
                <a:latin typeface="Lato"/>
                <a:ea typeface="Lato"/>
                <a:cs typeface="Lato"/>
                <a:sym typeface="Lato"/>
              </a:rPr>
              <a:t>The key steps followed were dataset creation, data preprocessing, dashboard design, slicer integration, and chatbot topic and condition building for query handling.</a:t>
            </a:r>
            <a:endParaRPr>
              <a:solidFill>
                <a:srgbClr val="1A1A2E"/>
              </a:solidFill>
              <a:latin typeface="Lato"/>
              <a:ea typeface="Lato"/>
              <a:cs typeface="Lato"/>
              <a:sym typeface="Lato"/>
            </a:endParaRPr>
          </a:p>
          <a:p>
            <a:pPr indent="-317500" lvl="0" marL="457200" rtl="0" algn="just">
              <a:spcBef>
                <a:spcPts val="0"/>
              </a:spcBef>
              <a:spcAft>
                <a:spcPts val="0"/>
              </a:spcAft>
              <a:buClr>
                <a:srgbClr val="1A1A2E"/>
              </a:buClr>
              <a:buSzPts val="1400"/>
              <a:buFont typeface="Lato"/>
              <a:buChar char="●"/>
            </a:pPr>
            <a:r>
              <a:rPr lang="en-US">
                <a:solidFill>
                  <a:srgbClr val="1A1A2E"/>
                </a:solidFill>
                <a:latin typeface="Lato"/>
                <a:ea typeface="Lato"/>
                <a:cs typeface="Lato"/>
                <a:sym typeface="Lato"/>
              </a:rPr>
              <a:t>The solution offers improved planning, quick information access, reduced confusion, and stands out by integrating visualization with a controlled, rule-based AI system for accurate and reliable responses.</a:t>
            </a:r>
            <a:endParaRPr>
              <a:solidFill>
                <a:srgbClr val="1A1A2E"/>
              </a:solidFill>
              <a:latin typeface="Lato"/>
              <a:ea typeface="Lato"/>
              <a:cs typeface="Lato"/>
              <a:sym typeface="Lato"/>
            </a:endParaRPr>
          </a:p>
          <a:p>
            <a:pPr indent="0" lvl="0" marL="0" marR="0" rtl="0" algn="l">
              <a:spcBef>
                <a:spcPts val="0"/>
              </a:spcBef>
              <a:spcAft>
                <a:spcPts val="0"/>
              </a:spcAft>
              <a:buClr>
                <a:srgbClr val="1A1A2E"/>
              </a:buClr>
              <a:buSzPts val="1800"/>
              <a:buFont typeface="Lato"/>
              <a:buNone/>
            </a:pPr>
            <a:r>
              <a:t/>
            </a:r>
            <a:endParaRPr>
              <a:solidFill>
                <a:srgbClr val="1A1A2E"/>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6"/>
          <p:cNvSpPr/>
          <p:nvPr/>
        </p:nvSpPr>
        <p:spPr>
          <a:xfrm>
            <a:off x="130350" y="602920"/>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System Architecture</a:t>
            </a:r>
            <a:endParaRPr sz="2000">
              <a:solidFill>
                <a:schemeClr val="dk1"/>
              </a:solidFill>
              <a:latin typeface="Lato"/>
              <a:ea typeface="Lato"/>
              <a:cs typeface="Lato"/>
              <a:sym typeface="Lato"/>
            </a:endParaRPr>
          </a:p>
        </p:txBody>
      </p:sp>
      <p:sp>
        <p:nvSpPr>
          <p:cNvPr id="110" name="Google Shape;110;p6"/>
          <p:cNvSpPr/>
          <p:nvPr/>
        </p:nvSpPr>
        <p:spPr>
          <a:xfrm>
            <a:off x="23540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1" name="Google Shape;111;p6"/>
          <p:cNvSpPr/>
          <p:nvPr/>
        </p:nvSpPr>
        <p:spPr>
          <a:xfrm>
            <a:off x="416732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2" name="Google Shape;112;p6"/>
          <p:cNvSpPr/>
          <p:nvPr/>
        </p:nvSpPr>
        <p:spPr>
          <a:xfrm>
            <a:off x="32684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Data Input / Source</a:t>
            </a:r>
            <a:endParaRPr sz="1600">
              <a:solidFill>
                <a:schemeClr val="dk1"/>
              </a:solidFill>
              <a:latin typeface="Lato"/>
              <a:ea typeface="Lato"/>
              <a:cs typeface="Lato"/>
              <a:sym typeface="Lato"/>
            </a:endParaRPr>
          </a:p>
        </p:txBody>
      </p:sp>
      <p:sp>
        <p:nvSpPr>
          <p:cNvPr id="113" name="Google Shape;113;p6"/>
          <p:cNvSpPr/>
          <p:nvPr/>
        </p:nvSpPr>
        <p:spPr>
          <a:xfrm>
            <a:off x="326850" y="1700400"/>
            <a:ext cx="4023300" cy="113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600"/>
              <a:buFont typeface="Lato"/>
              <a:buNone/>
            </a:pPr>
            <a:r>
              <a:rPr lang="en-US" sz="1500">
                <a:solidFill>
                  <a:srgbClr val="1A1A2E"/>
                </a:solidFill>
                <a:latin typeface="Lato"/>
                <a:ea typeface="Lato"/>
                <a:cs typeface="Lato"/>
                <a:sym typeface="Lato"/>
              </a:rPr>
              <a:t>Data source consists of a structured, manually created Excel dataset representing semester-wise academic schedule, events, and workload information. </a:t>
            </a:r>
            <a:endParaRPr sz="1500">
              <a:solidFill>
                <a:schemeClr val="dk1"/>
              </a:solidFill>
              <a:latin typeface="Lato"/>
              <a:ea typeface="Lato"/>
              <a:cs typeface="Lato"/>
              <a:sym typeface="Lato"/>
            </a:endParaRPr>
          </a:p>
        </p:txBody>
      </p:sp>
      <p:sp>
        <p:nvSpPr>
          <p:cNvPr id="114" name="Google Shape;114;p6"/>
          <p:cNvSpPr/>
          <p:nvPr/>
        </p:nvSpPr>
        <p:spPr>
          <a:xfrm>
            <a:off x="4670248" y="1243200"/>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Lato"/>
              <a:ea typeface="Lato"/>
              <a:cs typeface="Lato"/>
              <a:sym typeface="Lato"/>
            </a:endParaRPr>
          </a:p>
        </p:txBody>
      </p:sp>
      <p:sp>
        <p:nvSpPr>
          <p:cNvPr id="115" name="Google Shape;115;p6"/>
          <p:cNvSpPr/>
          <p:nvPr/>
        </p:nvSpPr>
        <p:spPr>
          <a:xfrm>
            <a:off x="8602168" y="1243200"/>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6" name="Google Shape;116;p6"/>
          <p:cNvSpPr/>
          <p:nvPr/>
        </p:nvSpPr>
        <p:spPr>
          <a:xfrm>
            <a:off x="4761688" y="1279776"/>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Processing / Analysis</a:t>
            </a:r>
            <a:endParaRPr sz="1600">
              <a:solidFill>
                <a:schemeClr val="dk1"/>
              </a:solidFill>
              <a:latin typeface="Lato"/>
              <a:ea typeface="Lato"/>
              <a:cs typeface="Lato"/>
              <a:sym typeface="Lato"/>
            </a:endParaRPr>
          </a:p>
        </p:txBody>
      </p:sp>
      <p:sp>
        <p:nvSpPr>
          <p:cNvPr id="117" name="Google Shape;117;p6"/>
          <p:cNvSpPr/>
          <p:nvPr/>
        </p:nvSpPr>
        <p:spPr>
          <a:xfrm>
            <a:off x="4761688" y="1700400"/>
            <a:ext cx="402336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600"/>
              <a:buFont typeface="Lato"/>
              <a:buNone/>
            </a:pPr>
            <a:r>
              <a:rPr lang="en-US" sz="1500">
                <a:solidFill>
                  <a:srgbClr val="1A1A2E"/>
                </a:solidFill>
                <a:latin typeface="Lato"/>
                <a:ea typeface="Lato"/>
                <a:cs typeface="Lato"/>
                <a:sym typeface="Lato"/>
              </a:rPr>
              <a:t>Data is cleaned by standardizing formats and removing inconsistencies, then transformed using Excel formulas and categorized fields, and analyzed using pivot tables, slicers, and dashboard visualizations </a:t>
            </a:r>
            <a:endParaRPr sz="1500">
              <a:solidFill>
                <a:schemeClr val="dk1"/>
              </a:solidFill>
              <a:latin typeface="Lato"/>
              <a:ea typeface="Lato"/>
              <a:cs typeface="Lato"/>
              <a:sym typeface="Lato"/>
            </a:endParaRPr>
          </a:p>
        </p:txBody>
      </p:sp>
      <p:sp>
        <p:nvSpPr>
          <p:cNvPr id="118" name="Google Shape;118;p6"/>
          <p:cNvSpPr/>
          <p:nvPr/>
        </p:nvSpPr>
        <p:spPr>
          <a:xfrm>
            <a:off x="23540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19" name="Google Shape;119;p6"/>
          <p:cNvSpPr/>
          <p:nvPr/>
        </p:nvSpPr>
        <p:spPr>
          <a:xfrm>
            <a:off x="416732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20" name="Google Shape;120;p6"/>
          <p:cNvSpPr/>
          <p:nvPr/>
        </p:nvSpPr>
        <p:spPr>
          <a:xfrm>
            <a:off x="32684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AI / Tool Integration</a:t>
            </a:r>
            <a:endParaRPr sz="1600">
              <a:solidFill>
                <a:schemeClr val="dk1"/>
              </a:solidFill>
              <a:latin typeface="Lato"/>
              <a:ea typeface="Lato"/>
              <a:cs typeface="Lato"/>
              <a:sym typeface="Lato"/>
            </a:endParaRPr>
          </a:p>
        </p:txBody>
      </p:sp>
      <p:sp>
        <p:nvSpPr>
          <p:cNvPr id="121" name="Google Shape;121;p6"/>
          <p:cNvSpPr/>
          <p:nvPr/>
        </p:nvSpPr>
        <p:spPr>
          <a:xfrm>
            <a:off x="326850" y="3427049"/>
            <a:ext cx="4023300" cy="138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600"/>
              <a:buFont typeface="Lato"/>
              <a:buNone/>
            </a:pPr>
            <a:r>
              <a:rPr lang="en-US" sz="1600">
                <a:solidFill>
                  <a:srgbClr val="1A1A2E"/>
                </a:solidFill>
                <a:latin typeface="Lato"/>
                <a:ea typeface="Lato"/>
                <a:cs typeface="Lato"/>
                <a:sym typeface="Lato"/>
              </a:rPr>
              <a:t>Excel is used for data structuring, cleaning, and dashboard creation, while an AI chatbot built in Microsoft Copilot Studio is integrated with the dataset to provide instant, query-based academic information. </a:t>
            </a:r>
            <a:endParaRPr sz="1600">
              <a:solidFill>
                <a:schemeClr val="dk1"/>
              </a:solidFill>
              <a:latin typeface="Lato"/>
              <a:ea typeface="Lato"/>
              <a:cs typeface="Lato"/>
              <a:sym typeface="Lato"/>
            </a:endParaRPr>
          </a:p>
        </p:txBody>
      </p:sp>
      <p:sp>
        <p:nvSpPr>
          <p:cNvPr id="122" name="Google Shape;122;p6"/>
          <p:cNvSpPr/>
          <p:nvPr/>
        </p:nvSpPr>
        <p:spPr>
          <a:xfrm>
            <a:off x="4670248" y="2969856"/>
            <a:ext cx="4114800" cy="384048"/>
          </a:xfrm>
          <a:prstGeom prst="rect">
            <a:avLst/>
          </a:prstGeom>
          <a:solidFill>
            <a:srgbClr val="D8E2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23" name="Google Shape;123;p6"/>
          <p:cNvSpPr/>
          <p:nvPr/>
        </p:nvSpPr>
        <p:spPr>
          <a:xfrm>
            <a:off x="8602168" y="2969856"/>
            <a:ext cx="320040" cy="384048"/>
          </a:xfrm>
          <a:prstGeom prst="rect">
            <a:avLst/>
          </a:prstGeom>
          <a:solidFill>
            <a:srgbClr val="1B3A8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24" name="Google Shape;124;p6"/>
          <p:cNvSpPr/>
          <p:nvPr/>
        </p:nvSpPr>
        <p:spPr>
          <a:xfrm>
            <a:off x="4761688" y="3006432"/>
            <a:ext cx="384048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Output / Dashboard</a:t>
            </a:r>
            <a:endParaRPr sz="1600">
              <a:solidFill>
                <a:schemeClr val="dk1"/>
              </a:solidFill>
              <a:latin typeface="Lato"/>
              <a:ea typeface="Lato"/>
              <a:cs typeface="Lato"/>
              <a:sym typeface="Lato"/>
            </a:endParaRPr>
          </a:p>
        </p:txBody>
      </p:sp>
      <p:sp>
        <p:nvSpPr>
          <p:cNvPr id="125" name="Google Shape;125;p6"/>
          <p:cNvSpPr/>
          <p:nvPr/>
        </p:nvSpPr>
        <p:spPr>
          <a:xfrm>
            <a:off x="4761700" y="3427049"/>
            <a:ext cx="4023300" cy="148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2E"/>
              </a:buClr>
              <a:buSzPts val="1600"/>
              <a:buFont typeface="Lato"/>
              <a:buNone/>
            </a:pPr>
            <a:r>
              <a:rPr lang="en-US" sz="1600">
                <a:solidFill>
                  <a:srgbClr val="1A1A2E"/>
                </a:solidFill>
                <a:latin typeface="Lato"/>
                <a:ea typeface="Lato"/>
                <a:cs typeface="Lato"/>
                <a:sym typeface="Lato"/>
              </a:rPr>
              <a:t>The final output is an interactive Excel dashboard with charts and KPIs, along with an AI chatbot that provides instant academic information in a user-friendly format .</a:t>
            </a:r>
            <a:endParaRPr sz="160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7"/>
          <p:cNvSpPr/>
          <p:nvPr/>
        </p:nvSpPr>
        <p:spPr>
          <a:xfrm>
            <a:off x="120623" y="607298"/>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Live Demo of Project</a:t>
            </a:r>
            <a:endParaRPr sz="2000">
              <a:solidFill>
                <a:schemeClr val="dk1"/>
              </a:solidFill>
              <a:latin typeface="Lato"/>
              <a:ea typeface="Lato"/>
              <a:cs typeface="Lato"/>
              <a:sym typeface="Lato"/>
            </a:endParaRPr>
          </a:p>
        </p:txBody>
      </p:sp>
      <p:sp>
        <p:nvSpPr>
          <p:cNvPr id="132" name="Google Shape;132;p7"/>
          <p:cNvSpPr/>
          <p:nvPr/>
        </p:nvSpPr>
        <p:spPr>
          <a:xfrm>
            <a:off x="125487" y="1105839"/>
            <a:ext cx="8412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ato"/>
              <a:buNone/>
            </a:pPr>
            <a:r>
              <a:rPr lang="en-US" sz="1800">
                <a:solidFill>
                  <a:schemeClr val="dk1"/>
                </a:solidFill>
                <a:latin typeface="Lato"/>
                <a:ea typeface="Lato"/>
                <a:cs typeface="Lato"/>
                <a:sym typeface="Lato"/>
              </a:rPr>
              <a:t>Here's the list of some demo screenshots / features of the project:</a:t>
            </a:r>
            <a:endParaRPr sz="1800">
              <a:solidFill>
                <a:schemeClr val="dk1"/>
              </a:solidFill>
              <a:latin typeface="Lato"/>
              <a:ea typeface="Lato"/>
              <a:cs typeface="Lato"/>
              <a:sym typeface="Lato"/>
            </a:endParaRPr>
          </a:p>
        </p:txBody>
      </p:sp>
      <p:sp>
        <p:nvSpPr>
          <p:cNvPr id="133" name="Google Shape;133;p7"/>
          <p:cNvSpPr/>
          <p:nvPr/>
        </p:nvSpPr>
        <p:spPr>
          <a:xfrm>
            <a:off x="978408"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4" name="Google Shape;134;p7"/>
          <p:cNvSpPr/>
          <p:nvPr/>
        </p:nvSpPr>
        <p:spPr>
          <a:xfrm>
            <a:off x="274320" y="2196877"/>
            <a:ext cx="2788920" cy="2651760"/>
          </a:xfrm>
          <a:prstGeom prst="rect">
            <a:avLst/>
          </a:prstGeom>
          <a:solidFill>
            <a:srgbClr val="D8E2F3"/>
          </a:solidFill>
          <a:ln>
            <a:noFill/>
          </a:ln>
          <a:effectLst>
            <a:outerShdw blurRad="101600" rotWithShape="0" algn="bl" dir="8100000" dist="38100">
              <a:srgbClr val="000000">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5" name="Google Shape;135;p7"/>
          <p:cNvSpPr/>
          <p:nvPr/>
        </p:nvSpPr>
        <p:spPr>
          <a:xfrm>
            <a:off x="274450" y="2351448"/>
            <a:ext cx="27888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1</a:t>
            </a:r>
            <a:endParaRPr sz="1600">
              <a:solidFill>
                <a:schemeClr val="dk1"/>
              </a:solidFill>
              <a:latin typeface="Lato"/>
              <a:ea typeface="Lato"/>
              <a:cs typeface="Lato"/>
              <a:sym typeface="Lato"/>
            </a:endParaRPr>
          </a:p>
        </p:txBody>
      </p:sp>
      <p:sp>
        <p:nvSpPr>
          <p:cNvPr id="136" name="Google Shape;136;p7"/>
          <p:cNvSpPr/>
          <p:nvPr/>
        </p:nvSpPr>
        <p:spPr>
          <a:xfrm>
            <a:off x="411475" y="2571749"/>
            <a:ext cx="2514600" cy="2199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Showcases the Excel-based semester dashboard, highlighting monthly and weekly workload distribution, event categorization, and interactive filtering using pivot tables and slicers to provide a clear overview of academic planning and scheduling </a:t>
            </a:r>
            <a:endParaRPr/>
          </a:p>
        </p:txBody>
      </p:sp>
      <p:sp>
        <p:nvSpPr>
          <p:cNvPr id="137" name="Google Shape;137;p7"/>
          <p:cNvSpPr/>
          <p:nvPr/>
        </p:nvSpPr>
        <p:spPr>
          <a:xfrm>
            <a:off x="3922776" y="1648237"/>
            <a:ext cx="1371600" cy="1371600"/>
          </a:xfrm>
          <a:prstGeom prst="ellipse">
            <a:avLst/>
          </a:prstGeom>
          <a:solidFill>
            <a:srgbClr val="FFC00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8" name="Google Shape;138;p7"/>
          <p:cNvSpPr/>
          <p:nvPr/>
        </p:nvSpPr>
        <p:spPr>
          <a:xfrm>
            <a:off x="3218688" y="2196877"/>
            <a:ext cx="2788920" cy="2651760"/>
          </a:xfrm>
          <a:prstGeom prst="rect">
            <a:avLst/>
          </a:prstGeom>
          <a:solidFill>
            <a:srgbClr val="FDF3ED"/>
          </a:solidFill>
          <a:ln>
            <a:noFill/>
          </a:ln>
          <a:effectLst>
            <a:outerShdw blurRad="101600" rotWithShape="0" algn="bl" dir="8100000" dist="38100">
              <a:srgbClr val="000000">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39" name="Google Shape;139;p7"/>
          <p:cNvSpPr/>
          <p:nvPr/>
        </p:nvSpPr>
        <p:spPr>
          <a:xfrm>
            <a:off x="3218688" y="2305765"/>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2</a:t>
            </a:r>
            <a:endParaRPr sz="1600">
              <a:solidFill>
                <a:schemeClr val="dk1"/>
              </a:solidFill>
              <a:latin typeface="Lato"/>
              <a:ea typeface="Lato"/>
              <a:cs typeface="Lato"/>
              <a:sym typeface="Lato"/>
            </a:endParaRPr>
          </a:p>
        </p:txBody>
      </p:sp>
      <p:sp>
        <p:nvSpPr>
          <p:cNvPr id="140" name="Google Shape;140;p7"/>
          <p:cNvSpPr/>
          <p:nvPr/>
        </p:nvSpPr>
        <p:spPr>
          <a:xfrm>
            <a:off x="3355850" y="2717375"/>
            <a:ext cx="2514600" cy="205440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chemeClr val="dk1"/>
              </a:buClr>
              <a:buSzPts val="1600"/>
              <a:buFont typeface="Lato"/>
              <a:buNone/>
            </a:pPr>
            <a:r>
              <a:rPr lang="en-US" sz="1500">
                <a:solidFill>
                  <a:schemeClr val="dk1"/>
                </a:solidFill>
                <a:latin typeface="Lato"/>
                <a:ea typeface="Lato"/>
                <a:cs typeface="Lato"/>
                <a:sym typeface="Lato"/>
              </a:rPr>
              <a:t>This demo presents an interactive Excel dashboard using slicers for dynamic filtering of academic data. Users can select specific months or subjects to instantly view related events like IA, assignments, and breaks.</a:t>
            </a:r>
            <a:r>
              <a:rPr lang="en-US" sz="1600">
                <a:solidFill>
                  <a:schemeClr val="dk1"/>
                </a:solidFill>
                <a:latin typeface="Lato"/>
                <a:ea typeface="Lato"/>
                <a:cs typeface="Lato"/>
                <a:sym typeface="Lato"/>
              </a:rPr>
              <a:t> </a:t>
            </a:r>
            <a:endParaRPr sz="1600">
              <a:solidFill>
                <a:schemeClr val="dk1"/>
              </a:solidFill>
              <a:latin typeface="Lato"/>
              <a:ea typeface="Lato"/>
              <a:cs typeface="Lato"/>
              <a:sym typeface="Lato"/>
            </a:endParaRPr>
          </a:p>
        </p:txBody>
      </p:sp>
      <p:sp>
        <p:nvSpPr>
          <p:cNvPr id="141" name="Google Shape;141;p7"/>
          <p:cNvSpPr/>
          <p:nvPr/>
        </p:nvSpPr>
        <p:spPr>
          <a:xfrm>
            <a:off x="6867144" y="1648237"/>
            <a:ext cx="1371600" cy="1371600"/>
          </a:xfrm>
          <a:prstGeom prst="ellipse">
            <a:avLst/>
          </a:prstGeom>
          <a:solidFill>
            <a:srgbClr val="1565C0"/>
          </a:solidFill>
          <a:ln cap="flat" cmpd="sng" w="381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2" name="Google Shape;142;p7"/>
          <p:cNvSpPr/>
          <p:nvPr/>
        </p:nvSpPr>
        <p:spPr>
          <a:xfrm>
            <a:off x="6867144" y="1648237"/>
            <a:ext cx="1371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Calibri"/>
              <a:buNone/>
            </a:pPr>
            <a:r>
              <a:t/>
            </a:r>
            <a:endParaRPr sz="3600">
              <a:solidFill>
                <a:schemeClr val="dk1"/>
              </a:solidFill>
              <a:latin typeface="Lato"/>
              <a:ea typeface="Lato"/>
              <a:cs typeface="Lato"/>
              <a:sym typeface="Lato"/>
            </a:endParaRPr>
          </a:p>
        </p:txBody>
      </p:sp>
      <p:sp>
        <p:nvSpPr>
          <p:cNvPr id="143" name="Google Shape;143;p7"/>
          <p:cNvSpPr/>
          <p:nvPr/>
        </p:nvSpPr>
        <p:spPr>
          <a:xfrm>
            <a:off x="6163056" y="2200479"/>
            <a:ext cx="2788920" cy="2651760"/>
          </a:xfrm>
          <a:prstGeom prst="rect">
            <a:avLst/>
          </a:prstGeom>
          <a:solidFill>
            <a:srgbClr val="D8E2F3"/>
          </a:solidFill>
          <a:ln>
            <a:noFill/>
          </a:ln>
          <a:effectLst>
            <a:outerShdw blurRad="101600" rotWithShape="0" algn="bl" dir="8100000" dist="38100">
              <a:srgbClr val="000000">
                <a:alpha val="1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Lato"/>
              <a:ea typeface="Lato"/>
              <a:cs typeface="Lato"/>
              <a:sym typeface="Lato"/>
            </a:endParaRPr>
          </a:p>
        </p:txBody>
      </p:sp>
      <p:sp>
        <p:nvSpPr>
          <p:cNvPr id="144" name="Google Shape;144;p7"/>
          <p:cNvSpPr/>
          <p:nvPr/>
        </p:nvSpPr>
        <p:spPr>
          <a:xfrm>
            <a:off x="6163056" y="2305765"/>
            <a:ext cx="27888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Lato"/>
              <a:buNone/>
            </a:pPr>
            <a:r>
              <a:rPr b="1" lang="en-US" sz="1600">
                <a:solidFill>
                  <a:schemeClr val="dk1"/>
                </a:solidFill>
                <a:latin typeface="Lato"/>
                <a:ea typeface="Lato"/>
                <a:cs typeface="Lato"/>
                <a:sym typeface="Lato"/>
              </a:rPr>
              <a:t>Demo 3</a:t>
            </a:r>
            <a:endParaRPr sz="1600">
              <a:solidFill>
                <a:schemeClr val="dk1"/>
              </a:solidFill>
              <a:latin typeface="Lato"/>
              <a:ea typeface="Lato"/>
              <a:cs typeface="Lato"/>
              <a:sym typeface="Lato"/>
            </a:endParaRPr>
          </a:p>
        </p:txBody>
      </p:sp>
      <p:sp>
        <p:nvSpPr>
          <p:cNvPr id="145" name="Google Shape;145;p7"/>
          <p:cNvSpPr/>
          <p:nvPr/>
        </p:nvSpPr>
        <p:spPr>
          <a:xfrm>
            <a:off x="6300225" y="2671550"/>
            <a:ext cx="2514600" cy="224580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chemeClr val="dk1"/>
              </a:buClr>
              <a:buSzPts val="1600"/>
              <a:buFont typeface="Lato"/>
              <a:buNone/>
            </a:pPr>
            <a:r>
              <a:rPr lang="en-US" sz="1500">
                <a:solidFill>
                  <a:schemeClr val="dk1"/>
                </a:solidFill>
                <a:latin typeface="Lato"/>
                <a:ea typeface="Lato"/>
                <a:cs typeface="Lato"/>
                <a:sym typeface="Lato"/>
              </a:rPr>
              <a:t>This demo presents an interactive Excel dashboard using slicers for dynamic filtering of academic data. Users can select specific months or subjects to instantly view related events like IA, assignments, and breaks</a:t>
            </a:r>
            <a:r>
              <a:rPr lang="en-US" sz="1600">
                <a:solidFill>
                  <a:schemeClr val="dk1"/>
                </a:solidFill>
                <a:latin typeface="Lato"/>
                <a:ea typeface="Lato"/>
                <a:cs typeface="Lato"/>
                <a:sym typeface="Lato"/>
              </a:rPr>
              <a:t> .</a:t>
            </a:r>
            <a:endParaRPr sz="16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8"/>
          <p:cNvSpPr/>
          <p:nvPr/>
        </p:nvSpPr>
        <p:spPr>
          <a:xfrm>
            <a:off x="320040" y="621792"/>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200"/>
              <a:buFont typeface="Calibri"/>
              <a:buNone/>
            </a:pPr>
            <a:r>
              <a:rPr b="1" lang="en-US" sz="2200">
                <a:solidFill>
                  <a:srgbClr val="1B3A8A"/>
                </a:solidFill>
                <a:latin typeface="Calibri"/>
                <a:ea typeface="Calibri"/>
                <a:cs typeface="Calibri"/>
                <a:sym typeface="Calibri"/>
              </a:rPr>
              <a:t>Video of Project Demo</a:t>
            </a:r>
            <a:endParaRPr sz="2200">
              <a:solidFill>
                <a:schemeClr val="dk1"/>
              </a:solidFill>
              <a:latin typeface="Calibri"/>
              <a:ea typeface="Calibri"/>
              <a:cs typeface="Calibri"/>
              <a:sym typeface="Calibri"/>
            </a:endParaRPr>
          </a:p>
        </p:txBody>
      </p:sp>
      <p:sp>
        <p:nvSpPr>
          <p:cNvPr id="152" name="Google Shape;152;p8"/>
          <p:cNvSpPr/>
          <p:nvPr/>
        </p:nvSpPr>
        <p:spPr>
          <a:xfrm>
            <a:off x="365760" y="685800"/>
            <a:ext cx="8412480" cy="3977640"/>
          </a:xfrm>
          <a:prstGeom prst="rect">
            <a:avLst/>
          </a:prstGeom>
          <a:solidFill>
            <a:srgbClr val="ECEFF1"/>
          </a:solidFill>
          <a:ln cap="flat" cmpd="sng" w="25400">
            <a:solidFill>
              <a:srgbClr val="1B3A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8"/>
          <p:cNvSpPr/>
          <p:nvPr/>
        </p:nvSpPr>
        <p:spPr>
          <a:xfrm>
            <a:off x="365760" y="685800"/>
            <a:ext cx="8412480" cy="384048"/>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8"/>
          <p:cNvSpPr/>
          <p:nvPr/>
        </p:nvSpPr>
        <p:spPr>
          <a:xfrm>
            <a:off x="502920" y="777240"/>
            <a:ext cx="164592" cy="164592"/>
          </a:xfrm>
          <a:prstGeom prst="ellipse">
            <a:avLst/>
          </a:prstGeom>
          <a:solidFill>
            <a:srgbClr val="FF5F5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8"/>
          <p:cNvSpPr/>
          <p:nvPr/>
        </p:nvSpPr>
        <p:spPr>
          <a:xfrm>
            <a:off x="731520" y="777240"/>
            <a:ext cx="164592" cy="164592"/>
          </a:xfrm>
          <a:prstGeom prst="ellipse">
            <a:avLst/>
          </a:prstGeom>
          <a:solidFill>
            <a:srgbClr val="FEBC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8"/>
          <p:cNvSpPr/>
          <p:nvPr/>
        </p:nvSpPr>
        <p:spPr>
          <a:xfrm>
            <a:off x="960120" y="777240"/>
            <a:ext cx="164592" cy="164592"/>
          </a:xfrm>
          <a:prstGeom prst="ellipse">
            <a:avLst/>
          </a:prstGeom>
          <a:solidFill>
            <a:srgbClr val="28C8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p:nvPr/>
        </p:nvSpPr>
        <p:spPr>
          <a:xfrm>
            <a:off x="1371600" y="777240"/>
            <a:ext cx="5029200" cy="201168"/>
          </a:xfrm>
          <a:prstGeom prst="rect">
            <a:avLst/>
          </a:prstGeom>
          <a:solidFill>
            <a:srgbClr val="FFFFFF"/>
          </a:solidFill>
          <a:ln cap="flat" cmpd="sng" w="9525">
            <a:solidFill>
              <a:srgbClr val="CCCC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8"/>
          <p:cNvSpPr/>
          <p:nvPr/>
        </p:nvSpPr>
        <p:spPr>
          <a:xfrm>
            <a:off x="1389888" y="768096"/>
            <a:ext cx="4992624"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07D8B"/>
              </a:buClr>
              <a:buSzPts val="900"/>
              <a:buFont typeface="Calibri"/>
              <a:buNone/>
            </a:pPr>
            <a:r>
              <a:rPr lang="en-US" sz="900">
                <a:solidFill>
                  <a:srgbClr val="607D8B"/>
                </a:solidFill>
                <a:latin typeface="Calibri"/>
                <a:ea typeface="Calibri"/>
                <a:cs typeface="Calibri"/>
                <a:sym typeface="Calibri"/>
              </a:rPr>
              <a:t>[https://your-project-demo-link.com]</a:t>
            </a:r>
            <a:endParaRPr sz="900">
              <a:solidFill>
                <a:schemeClr val="dk1"/>
              </a:solidFill>
              <a:latin typeface="Calibri"/>
              <a:ea typeface="Calibri"/>
              <a:cs typeface="Calibri"/>
              <a:sym typeface="Calibri"/>
            </a:endParaRPr>
          </a:p>
        </p:txBody>
      </p:sp>
      <p:sp>
        <p:nvSpPr>
          <p:cNvPr id="159" name="Google Shape;159;p8"/>
          <p:cNvSpPr/>
          <p:nvPr/>
        </p:nvSpPr>
        <p:spPr>
          <a:xfrm>
            <a:off x="3749040" y="1828800"/>
            <a:ext cx="1645920" cy="1645920"/>
          </a:xfrm>
          <a:prstGeom prst="ellipse">
            <a:avLst/>
          </a:prstGeom>
          <a:solidFill>
            <a:srgbClr val="1B3A8A">
              <a:alpha val="800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8"/>
          <p:cNvSpPr/>
          <p:nvPr/>
        </p:nvSpPr>
        <p:spPr>
          <a:xfrm>
            <a:off x="3749040" y="1828800"/>
            <a:ext cx="164592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lang="en-US" sz="4800">
                <a:solidFill>
                  <a:srgbClr val="FFFFFF"/>
                </a:solidFill>
                <a:latin typeface="Calibri"/>
                <a:ea typeface="Calibri"/>
                <a:cs typeface="Calibri"/>
                <a:sym typeface="Calibri"/>
              </a:rPr>
              <a:t>▶</a:t>
            </a:r>
            <a:endParaRPr sz="4800">
              <a:solidFill>
                <a:schemeClr val="dk1"/>
              </a:solidFill>
              <a:latin typeface="Calibri"/>
              <a:ea typeface="Calibri"/>
              <a:cs typeface="Calibri"/>
              <a:sym typeface="Calibri"/>
            </a:endParaRPr>
          </a:p>
        </p:txBody>
      </p:sp>
      <p:sp>
        <p:nvSpPr>
          <p:cNvPr id="161" name="Google Shape;161;p8"/>
          <p:cNvSpPr/>
          <p:nvPr/>
        </p:nvSpPr>
        <p:spPr>
          <a:xfrm>
            <a:off x="914400" y="3794760"/>
            <a:ext cx="73152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07D8B"/>
              </a:buClr>
              <a:buSzPts val="1100"/>
              <a:buFont typeface="Calibri"/>
              <a:buNone/>
            </a:pPr>
            <a:r>
              <a:rPr i="1" lang="en-US" sz="1100">
                <a:solidFill>
                  <a:srgbClr val="607D8B"/>
                </a:solidFill>
                <a:latin typeface="Calibri"/>
                <a:ea typeface="Calibri"/>
                <a:cs typeface="Calibri"/>
                <a:sym typeface="Calibri"/>
              </a:rPr>
              <a:t>[Insert your project demo video.</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607D8B"/>
              </a:buClr>
              <a:buSzPts val="1100"/>
              <a:buFont typeface="Calibri"/>
              <a:buNone/>
            </a:pPr>
            <a:r>
              <a:rPr i="1" lang="en-US" sz="1100">
                <a:solidFill>
                  <a:srgbClr val="607D8B"/>
                </a:solidFill>
                <a:latin typeface="Calibri"/>
                <a:ea typeface="Calibri"/>
                <a:cs typeface="Calibri"/>
                <a:sym typeface="Calibri"/>
              </a:rPr>
              <a:t>You can embed a video your live project.]</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9"/>
          <p:cNvSpPr/>
          <p:nvPr/>
        </p:nvSpPr>
        <p:spPr>
          <a:xfrm>
            <a:off x="130351" y="448314"/>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Conclusion</a:t>
            </a:r>
            <a:endParaRPr sz="2000">
              <a:solidFill>
                <a:schemeClr val="dk1"/>
              </a:solidFill>
              <a:latin typeface="Lato"/>
              <a:ea typeface="Lato"/>
              <a:cs typeface="Lato"/>
              <a:sym typeface="Lato"/>
            </a:endParaRPr>
          </a:p>
        </p:txBody>
      </p:sp>
      <p:sp>
        <p:nvSpPr>
          <p:cNvPr id="168" name="Google Shape;168;p9"/>
          <p:cNvSpPr/>
          <p:nvPr/>
        </p:nvSpPr>
        <p:spPr>
          <a:xfrm>
            <a:off x="130350" y="887225"/>
            <a:ext cx="5173200" cy="4140000"/>
          </a:xfrm>
          <a:prstGeom prst="rect">
            <a:avLst/>
          </a:prstGeom>
          <a:noFill/>
          <a:ln>
            <a:noFill/>
          </a:ln>
        </p:spPr>
        <p:txBody>
          <a:bodyPr anchorCtr="0" anchor="t" bIns="45700" lIns="91425" spcFirstLastPara="1" rIns="91425" wrap="square" tIns="45700">
            <a:noAutofit/>
          </a:bodyPr>
          <a:lstStyle/>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The project “Semester Smart” successfully organized scattered academic data into a structured Excel-based system with an interactive dashboard and AI chatbot. </a:t>
            </a:r>
            <a:endParaRPr sz="1600">
              <a:solidFill>
                <a:srgbClr val="1A1A2E"/>
              </a:solidFill>
              <a:latin typeface="Lato"/>
              <a:ea typeface="Lato"/>
              <a:cs typeface="Lato"/>
              <a:sym typeface="Lato"/>
            </a:endParaRPr>
          </a:p>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It enabled clear visualization of semester planning, workload distribution, and academic events. </a:t>
            </a:r>
            <a:endParaRPr sz="1600">
              <a:solidFill>
                <a:srgbClr val="1A1A2E"/>
              </a:solidFill>
              <a:latin typeface="Lato"/>
              <a:ea typeface="Lato"/>
              <a:cs typeface="Lato"/>
              <a:sym typeface="Lato"/>
            </a:endParaRPr>
          </a:p>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The chatbot provided instant, user-friendly access to information, improving accessibility for students. </a:t>
            </a:r>
            <a:endParaRPr sz="1600">
              <a:solidFill>
                <a:srgbClr val="1A1A2E"/>
              </a:solidFill>
              <a:latin typeface="Lato"/>
              <a:ea typeface="Lato"/>
              <a:cs typeface="Lato"/>
              <a:sym typeface="Lato"/>
            </a:endParaRPr>
          </a:p>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All project objectives, including data cleaning, analysis, visualization, and AI integration, were achieved. </a:t>
            </a:r>
            <a:endParaRPr sz="1600">
              <a:solidFill>
                <a:srgbClr val="1A1A2E"/>
              </a:solidFill>
              <a:latin typeface="Lato"/>
              <a:ea typeface="Lato"/>
              <a:cs typeface="Lato"/>
              <a:sym typeface="Lato"/>
            </a:endParaRPr>
          </a:p>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The project demonstrates how simple tools combined with AI can enhance academic efficiency. </a:t>
            </a:r>
            <a:endParaRPr sz="1600">
              <a:solidFill>
                <a:srgbClr val="1A1A2E"/>
              </a:solidFill>
              <a:latin typeface="Lato"/>
              <a:ea typeface="Lato"/>
              <a:cs typeface="Lato"/>
              <a:sym typeface="Lato"/>
            </a:endParaRPr>
          </a:p>
          <a:p>
            <a:pPr indent="-330200" lvl="0" marL="457200" marR="0" rtl="0" algn="just">
              <a:spcBef>
                <a:spcPts val="0"/>
              </a:spcBef>
              <a:spcAft>
                <a:spcPts val="0"/>
              </a:spcAft>
              <a:buClr>
                <a:srgbClr val="1A1A2E"/>
              </a:buClr>
              <a:buSzPts val="1600"/>
              <a:buFont typeface="Lato"/>
              <a:buChar char="●"/>
            </a:pPr>
            <a:r>
              <a:rPr lang="en-US" sz="1600">
                <a:solidFill>
                  <a:srgbClr val="1A1A2E"/>
                </a:solidFill>
                <a:latin typeface="Lato"/>
                <a:ea typeface="Lato"/>
                <a:cs typeface="Lato"/>
                <a:sym typeface="Lato"/>
              </a:rPr>
              <a:t>Overall, it adds value by promoting data literacy and technology integration in education. </a:t>
            </a:r>
            <a:endParaRPr sz="1600">
              <a:solidFill>
                <a:schemeClr val="dk1"/>
              </a:solidFill>
              <a:latin typeface="Lato"/>
              <a:ea typeface="Lato"/>
              <a:cs typeface="Lato"/>
              <a:sym typeface="Lato"/>
            </a:endParaRPr>
          </a:p>
        </p:txBody>
      </p:sp>
      <p:sp>
        <p:nvSpPr>
          <p:cNvPr id="169" name="Google Shape;169;p9"/>
          <p:cNvSpPr/>
          <p:nvPr/>
        </p:nvSpPr>
        <p:spPr>
          <a:xfrm>
            <a:off x="5303520" y="3474720"/>
            <a:ext cx="301752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600"/>
              <a:buFont typeface="Lato"/>
              <a:buNone/>
            </a:pPr>
            <a:r>
              <a:rPr b="1" lang="en-US" sz="1600">
                <a:solidFill>
                  <a:srgbClr val="FFFFFF"/>
                </a:solidFill>
                <a:latin typeface="Lato"/>
                <a:ea typeface="Lato"/>
                <a:cs typeface="Lato"/>
                <a:sym typeface="Lato"/>
              </a:rPr>
              <a:t>CONCLUSION</a:t>
            </a:r>
            <a:endParaRPr sz="1600">
              <a:solidFill>
                <a:schemeClr val="dk1"/>
              </a:solidFill>
              <a:latin typeface="Lato"/>
              <a:ea typeface="Lato"/>
              <a:cs typeface="Lato"/>
              <a:sym typeface="Lato"/>
            </a:endParaRPr>
          </a:p>
        </p:txBody>
      </p:sp>
      <p:pic>
        <p:nvPicPr>
          <p:cNvPr descr="A blue circle with a pencil and paper with a star on it&#10;&#10;AI-generated content may be incorrect." id="170" name="Google Shape;170;p9"/>
          <p:cNvPicPr preferRelativeResize="0"/>
          <p:nvPr/>
        </p:nvPicPr>
        <p:blipFill rotWithShape="1">
          <a:blip r:embed="rId3">
            <a:alphaModFix/>
          </a:blip>
          <a:srcRect b="29752" l="25397" r="26825" t="26296"/>
          <a:stretch/>
        </p:blipFill>
        <p:spPr>
          <a:xfrm>
            <a:off x="5303525" y="971550"/>
            <a:ext cx="3624151" cy="3309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p:nvPr/>
        </p:nvSpPr>
        <p:spPr>
          <a:xfrm>
            <a:off x="123247" y="613561"/>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3A8A"/>
              </a:buClr>
              <a:buSzPts val="2000"/>
              <a:buFont typeface="Lato"/>
              <a:buNone/>
            </a:pPr>
            <a:r>
              <a:rPr b="1" lang="en-US" sz="2000">
                <a:solidFill>
                  <a:srgbClr val="1B3A8A"/>
                </a:solidFill>
                <a:latin typeface="Lato"/>
                <a:ea typeface="Lato"/>
                <a:cs typeface="Lato"/>
                <a:sym typeface="Lato"/>
              </a:rPr>
              <a:t>Future Scope</a:t>
            </a:r>
            <a:endParaRPr sz="2000">
              <a:solidFill>
                <a:schemeClr val="dk1"/>
              </a:solidFill>
              <a:latin typeface="Lato"/>
              <a:ea typeface="Lato"/>
              <a:cs typeface="Lato"/>
              <a:sym typeface="Lato"/>
            </a:endParaRPr>
          </a:p>
        </p:txBody>
      </p:sp>
      <p:sp>
        <p:nvSpPr>
          <p:cNvPr id="177" name="Google Shape;177;p10"/>
          <p:cNvSpPr/>
          <p:nvPr/>
        </p:nvSpPr>
        <p:spPr>
          <a:xfrm>
            <a:off x="123250" y="1082100"/>
            <a:ext cx="4114800" cy="37458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Clr>
                <a:srgbClr val="1A1A2E"/>
              </a:buClr>
              <a:buSzPts val="1800"/>
              <a:buFont typeface="Lato"/>
              <a:buNone/>
            </a:pPr>
            <a:r>
              <a:rPr lang="en-US" sz="1800">
                <a:solidFill>
                  <a:srgbClr val="1A1A2E"/>
                </a:solidFill>
                <a:latin typeface="Lato"/>
                <a:ea typeface="Lato"/>
                <a:cs typeface="Lato"/>
                <a:sym typeface="Lato"/>
              </a:rPr>
              <a:t>Future enhancements include integrating real-time data from LMS systems to automate updates and reduce manual effort. The project can be scaled across multiple courses, departments, and institutions for broader implementation. The chatbot can be enhanced with more advanced AI capabilities for better natural language understanding. Additional features like alerts, notifications, and personalized student tracking can also be incorporated.</a:t>
            </a:r>
            <a:endParaRPr sz="1800">
              <a:solidFill>
                <a:schemeClr val="dk1"/>
              </a:solidFill>
              <a:latin typeface="Lato"/>
              <a:ea typeface="Lato"/>
              <a:cs typeface="Lato"/>
              <a:sym typeface="Lato"/>
            </a:endParaRPr>
          </a:p>
        </p:txBody>
      </p:sp>
      <p:pic>
        <p:nvPicPr>
          <p:cNvPr id="178" name="Google Shape;178;p10"/>
          <p:cNvPicPr preferRelativeResize="0"/>
          <p:nvPr/>
        </p:nvPicPr>
        <p:blipFill rotWithShape="1">
          <a:blip r:embed="rId3">
            <a:alphaModFix/>
          </a:blip>
          <a:srcRect b="0" l="0" r="0" t="0"/>
          <a:stretch/>
        </p:blipFill>
        <p:spPr>
          <a:xfrm>
            <a:off x="4631635" y="879613"/>
            <a:ext cx="4512365" cy="3384274"/>
          </a:xfrm>
          <a:prstGeom prst="rect">
            <a:avLst/>
          </a:prstGeom>
          <a:noFill/>
          <a:ln>
            <a:noFill/>
          </a:ln>
        </p:spPr>
      </p:pic>
      <p:sp>
        <p:nvSpPr>
          <p:cNvPr id="179" name="Google Shape;179;p1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80" name="Google Shape;180;p10" title="IMAGE SOURCE.png"/>
          <p:cNvPicPr preferRelativeResize="0"/>
          <p:nvPr/>
        </p:nvPicPr>
        <p:blipFill>
          <a:blip r:embed="rId4">
            <a:alphaModFix/>
          </a:blip>
          <a:stretch>
            <a:fillRect/>
          </a:stretch>
        </p:blipFill>
        <p:spPr>
          <a:xfrm>
            <a:off x="4631625" y="613550"/>
            <a:ext cx="4313501" cy="4214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1"/>
          <p:cNvSpPr/>
          <p:nvPr/>
        </p:nvSpPr>
        <p:spPr>
          <a:xfrm>
            <a:off x="914400" y="3017520"/>
            <a:ext cx="7315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400"/>
              <a:buFont typeface="Lato"/>
              <a:buNone/>
            </a:pPr>
            <a:r>
              <a:rPr lang="en-US" sz="1400">
                <a:solidFill>
                  <a:schemeClr val="dk1"/>
                </a:solidFill>
                <a:latin typeface="Lato"/>
                <a:ea typeface="Lato"/>
                <a:cs typeface="Lato"/>
                <a:sym typeface="Lato"/>
              </a:rPr>
              <a:t>AICW Fellowship  |  </a:t>
            </a:r>
            <a:r>
              <a:rPr lang="en-US">
                <a:solidFill>
                  <a:schemeClr val="dk1"/>
                </a:solidFill>
                <a:latin typeface="Lato"/>
                <a:ea typeface="Lato"/>
                <a:cs typeface="Lato"/>
                <a:sym typeface="Lato"/>
              </a:rPr>
              <a:t>Faculty</a:t>
            </a:r>
            <a:r>
              <a:rPr lang="en-US" sz="1400">
                <a:solidFill>
                  <a:schemeClr val="dk1"/>
                </a:solidFill>
                <a:latin typeface="Lato"/>
                <a:ea typeface="Lato"/>
                <a:cs typeface="Lato"/>
                <a:sym typeface="Lato"/>
              </a:rPr>
              <a:t> Project Presentation 2026</a:t>
            </a:r>
            <a:endParaRPr sz="1400">
              <a:solidFill>
                <a:schemeClr val="dk1"/>
              </a:solidFill>
              <a:latin typeface="Lato"/>
              <a:ea typeface="Lato"/>
              <a:cs typeface="Lato"/>
              <a:sym typeface="Lato"/>
            </a:endParaRPr>
          </a:p>
        </p:txBody>
      </p:sp>
      <p:sp>
        <p:nvSpPr>
          <p:cNvPr id="187" name="Google Shape;187;p11"/>
          <p:cNvSpPr/>
          <p:nvPr/>
        </p:nvSpPr>
        <p:spPr>
          <a:xfrm>
            <a:off x="914400" y="3566160"/>
            <a:ext cx="7315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100"/>
              <a:buFont typeface="Lato"/>
              <a:buNone/>
            </a:pPr>
            <a:r>
              <a:rPr lang="en-US" sz="1100">
                <a:solidFill>
                  <a:schemeClr val="dk1"/>
                </a:solidFill>
                <a:latin typeface="Lato"/>
                <a:ea typeface="Lato"/>
                <a:cs typeface="Lato"/>
                <a:sym typeface="Lato"/>
              </a:rPr>
              <a:t>  LinkedIn  |   Edunet Foundation</a:t>
            </a:r>
            <a:endParaRPr sz="1100">
              <a:solidFill>
                <a:schemeClr val="dk1"/>
              </a:solidFill>
              <a:latin typeface="Lato"/>
              <a:ea typeface="Lato"/>
              <a:cs typeface="Lato"/>
              <a:sym typeface="Lato"/>
            </a:endParaRPr>
          </a:p>
        </p:txBody>
      </p:sp>
      <p:sp>
        <p:nvSpPr>
          <p:cNvPr id="188" name="Google Shape;188;p11"/>
          <p:cNvSpPr txBox="1"/>
          <p:nvPr/>
        </p:nvSpPr>
        <p:spPr>
          <a:xfrm>
            <a:off x="2632982" y="1705295"/>
            <a:ext cx="3878036" cy="1175065"/>
          </a:xfrm>
          <a:prstGeom prst="rect">
            <a:avLst/>
          </a:prstGeom>
          <a:noFill/>
          <a:ln>
            <a:noFill/>
          </a:ln>
        </p:spPr>
        <p:txBody>
          <a:bodyPr anchorCtr="0" anchor="t" bIns="0" lIns="0" spcFirstLastPara="1" rIns="0" wrap="square" tIns="0">
            <a:spAutoFit/>
          </a:bodyPr>
          <a:lstStyle/>
          <a:p>
            <a:pPr indent="0" lvl="0" marL="0" marR="0" rtl="0" algn="ctr">
              <a:lnSpc>
                <a:spcPct val="213720"/>
              </a:lnSpc>
              <a:spcBef>
                <a:spcPts val="0"/>
              </a:spcBef>
              <a:spcAft>
                <a:spcPts val="0"/>
              </a:spcAft>
              <a:buNone/>
            </a:pPr>
            <a:r>
              <a:rPr b="1" lang="en-US" sz="5000">
                <a:solidFill>
                  <a:srgbClr val="0D358D"/>
                </a:solidFill>
                <a:latin typeface="Lato"/>
                <a:ea typeface="Lato"/>
                <a:cs typeface="Lato"/>
                <a:sym typeface="Lato"/>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2026-02-18T09:17:23Z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